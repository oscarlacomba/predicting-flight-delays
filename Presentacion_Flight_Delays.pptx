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ROC-AUC por modelo</a:t>
            </a:r>
          </a:p>
        </c:rich>
      </c:tx>
      <c:layout/>
      <c:overlay val="0"/>
    </c:title>
    <c:autoTitleDeleted val="0"/>
    <c:plotArea>
      <c:layout/>
      <c:barChart>
        <c:barDir val="col"/>
        <c:grouping val="clustered"/>
        <c:varyColors val="0"/>
        <c:ser>
          <c:idx val="0"/>
          <c:order val="0"/>
          <c:tx>
            <c:strRef>
              <c:f>Sheet1!$B$1</c:f>
              <c:strCache>
                <c:ptCount val="1"/>
                <c:pt idx="0">
                  <c:v>ROC-AUC</c:v>
                </c:pt>
              </c:strCache>
            </c:strRef>
          </c:tx>
          <c:spPr>
            <a:solidFill>
              <a:srgbClr val="CADCFC"/>
            </a:solidFill>
            <a:effectLst/>
          </c:spPr>
          <c:invertIfNegative val="0"/>
          <c:dLbls>
            <c:numFmt formatCode="0.00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CADCFC"/>
              </a:solidFill>
              <a:effectLst/>
            </c:spPr>
          </c:dPt>
          <c:dPt>
            <c:idx val="1"/>
            <c:invertIfNegative val="0"/>
            <c:bubble3D val="0"/>
            <c:spPr>
              <a:solidFill>
                <a:srgbClr val="E8920B"/>
              </a:solidFill>
              <a:effectLst/>
            </c:spPr>
          </c:dPt>
          <c:dPt>
            <c:idx val="2"/>
            <c:invertIfNegative val="0"/>
            <c:bubble3D val="0"/>
            <c:spPr>
              <a:solidFill>
                <a:srgbClr val="CADCFC"/>
              </a:solidFill>
              <a:effectLst/>
            </c:spPr>
          </c:dPt>
          <c:cat>
            <c:multiLvlStrRef>
              <c:f>Sheet1!$A$2:$A$4</c:f>
              <c:multiLvlStrCache>
                <c:ptCount val="3"/>
                <c:lvl>
                  <c:pt idx="0">
                    <c:v>Logistic
Regression</c:v>
                  </c:pt>
                  <c:pt idx="1">
                    <c:v>Random
Forest</c:v>
                  </c:pt>
                  <c:pt idx="2">
                    <c:v>XGBoost</c:v>
                  </c:pt>
                </c:lvl>
              </c:multiLvlStrCache>
            </c:multiLvlStrRef>
          </c:cat>
          <c:val>
            <c:numRef>
              <c:f>Sheet1!$B$2:$B$4</c:f>
              <c:numCache>
                <c:formatCode>General</c:formatCode>
                <c:ptCount val="3"/>
                <c:pt idx="0">
                  <c:v>0.793</c:v>
                </c:pt>
                <c:pt idx="1">
                  <c:v>0.811</c:v>
                </c:pt>
                <c:pt idx="2">
                  <c:v>0.81</c:v>
                </c:pt>
              </c:numCache>
            </c:numRef>
          </c:val>
        </c:ser>
        <c:dLbls>
          <c:numFmt formatCode="0.00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A99"/>
                </a:solidFill>
                <a:latin typeface="Arial"/>
              </a:defRPr>
            </a:pPr>
            <a:endParaRPr lang="en-US"/>
          </a:p>
        </c:txPr>
        <c:crossAx val="2094734552"/>
        <c:crosses val="autoZero"/>
        <c:auto val="1"/>
        <c:lblAlgn val="ctr"/>
        <c:noMultiLvlLbl val="1"/>
      </c:catAx>
      <c:valAx>
        <c:axId val="2094734552"/>
        <c:scaling>
          <c:orientation val="minMax"/>
          <c:max val="0.9"/>
          <c:min val="0.6"/>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A9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Importancia</c:v>
                </c:pt>
              </c:strCache>
            </c:strRef>
          </c:tx>
          <c:spPr>
            <a:solidFill>
              <a:srgbClr val="1E2761"/>
            </a:solidFill>
            <a:effectLst/>
          </c:spPr>
          <c:invertIfNegative val="0"/>
          <c:dLbls>
            <c:numFmt formatCode="0.00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Hora de salida</c:v>
                  </c:pt>
                  <c:pt idx="1">
                    <c:v>Temporada</c:v>
                  </c:pt>
                  <c:pt idx="2">
                    <c:v>Tasa hist. aerolínea</c:v>
                  </c:pt>
                  <c:pt idx="3">
                    <c:v>Aerolínea</c:v>
                  </c:pt>
                  <c:pt idx="4">
                    <c:v>Mes</c:v>
                  </c:pt>
                </c:lvl>
              </c:multiLvlStrCache>
            </c:multiLvlStrRef>
          </c:cat>
          <c:val>
            <c:numRef>
              <c:f>Sheet1!$B$2:$B$6</c:f>
              <c:numCache>
                <c:formatCode>General</c:formatCode>
                <c:ptCount val="5"/>
                <c:pt idx="0">
                  <c:v>0.16</c:v>
                </c:pt>
                <c:pt idx="1">
                  <c:v>0.0295</c:v>
                </c:pt>
                <c:pt idx="2">
                  <c:v>0.0291</c:v>
                </c:pt>
                <c:pt idx="3">
                  <c:v>0.025</c:v>
                </c:pt>
                <c:pt idx="4">
                  <c:v>0.0122</c:v>
                </c:pt>
              </c:numCache>
            </c:numRef>
          </c:val>
        </c:ser>
        <c:dLbls>
          <c:numFmt formatCode="0.00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A99"/>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A9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Presentamos un proyecto completo de ciencia de datos sobre retrasos de vuelos: desde la limpieza de datos hasta un dashboard en producción. El objetivo es doble: predecir si un vuelo se retrasara mas de 15 minutos, y como extension, estimar los minutos exactos de retraso.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los retrasos cuestan tiempo y dinero, y son dificiles de anticipar. Nuestro objetivo es predecir el retraso usando solo informacion disponible antes del despegue -- nada de datos que solo se conocen despues. En nuestros datos, casi 4 de cada 10 vuelos se retrasan mas de 15 minutos, con picos claros segun la hora y la aerolinea.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notebook sigue 9 tareas agrupadas en 5 etapas: primero entendemos y limpiamos los datos -- excluyendo explicitamente variables que solo se conocen despues del despegue, para evitar fuga de informacion. Luego exploramos patrones, construimos variables, entrenamos los modelos, y cerramos con interpretacion y recomendaciones.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uno de los hallazgos mas claros del analisis exploratorio: el retraso no es aleatorio, se acumula durante el dia operativo. Un vuelo retrasado en la mañana provoca retrasos en cascada en las rotaciones siguientes de la misma aeronave y tripulacion, por eso la tasa de retraso casi se triplica entre la mañana y las 19:00.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Comparamos Logistic Regression, Random Forest y XGBoost. Random Forest gano por un margen muy estrecho sobre XGBoost (0.811 vs 0.810 de ROC-AUC), ambos claramente por encima de la regresion logistica. Usamos class_weight balanceado porque la clase de vuelos retrasados es minoritaria, y por eso reportamos ROC-AUC y F1 ademas de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hora de salida es, por mucho, la variable mas importante -- mas que el aeropuerto o la distancia. Esto confirma el patron de acumulacion de retrasos que vimos en el EDA. Como bonus, tambien entrenamos modelos de regresion para estimar minutos exactos de retraso, no solo si se retrasa o no; el R2 es moderado porque el retraso exacto depende de factores ruidosos que no estan en estos datos, como el clima puntual del 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el trabajo del notebook se empaqueto en un dashboard interactivo, desplegado publicamente en Hugging Face Spaces. Tiene 4 paginas: Overview con el resumen, EDA con graficas filtrables, un Predictor donde se puede ingresar un vuelo hipotetico y ver la prediccion al instante, y Model Performance con las metricas de los modelos.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las recomendaciones se dirigen a tres audiencias distintas -- aerolineas, aeropuertos y viajeros -- cada una con una accion concreta. El siguiente paso mas importante es validar estas cifras con el dataset real completo, ya que esta corrida fue sobre datos sinteticos por restricciones de tiempo.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2.png"/><Relationship Id="rId4" Type="http://schemas.openxmlformats.org/officeDocument/2006/relationships/image" Target="../media/image-4-2.png"/><Relationship Id="rId5" Type="http://schemas.openxmlformats.org/officeDocument/2006/relationships/image" Target="../media/image-4-2.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pic>
        <p:nvPicPr>
          <p:cNvPr id="2" name="Image 0" descr="/home/claude/build/pptx_deck/icons/plane_white2.png">    </p:cNvPr>
          <p:cNvPicPr>
            <a:picLocks noChangeAspect="1"/>
          </p:cNvPicPr>
          <p:nvPr/>
        </p:nvPicPr>
        <p:blipFill>
          <a:blip r:embed="rId1">
            <a:alphaModFix amt="20000"/>
          </a:blip>
          <a:stretch>
            <a:fillRect/>
          </a:stretch>
        </p:blipFill>
        <p:spPr>
          <a:xfrm rot="-1500000">
            <a:off x="8778240" y="4206240"/>
            <a:ext cx="2926080" cy="2926080"/>
          </a:xfrm>
          <a:prstGeom prst="rect">
            <a:avLst/>
          </a:prstGeom>
        </p:spPr>
      </p:pic>
      <p:sp>
        <p:nvSpPr>
          <p:cNvPr id="3" name="Text 0"/>
          <p:cNvSpPr/>
          <p:nvPr/>
        </p:nvSpPr>
        <p:spPr>
          <a:xfrm>
            <a:off x="822960" y="1965960"/>
            <a:ext cx="7315200" cy="457200"/>
          </a:xfrm>
          <a:prstGeom prst="rect">
            <a:avLst/>
          </a:prstGeom>
          <a:noFill/>
          <a:ln/>
        </p:spPr>
        <p:txBody>
          <a:bodyPr wrap="square" lIns="0" tIns="0" rIns="0" bIns="0" rtlCol="0" anchor="ctr"/>
          <a:lstStyle/>
          <a:p>
            <a:pPr indent="0" marL="0">
              <a:buNone/>
            </a:pPr>
            <a:r>
              <a:rPr lang="en-US" sz="1600" b="1" spc="300" kern="0" dirty="0">
                <a:solidFill>
                  <a:srgbClr val="E8920B"/>
                </a:solidFill>
                <a:latin typeface="Calibri" pitchFamily="34" charset="0"/>
                <a:ea typeface="Calibri" pitchFamily="34" charset="-122"/>
                <a:cs typeface="Calibri" pitchFamily="34" charset="-120"/>
              </a:rPr>
              <a:t>PROYECTO DE CIENCIA DE DATOS</a:t>
            </a:r>
            <a:endParaRPr lang="en-US" sz="1600" dirty="0"/>
          </a:p>
        </p:txBody>
      </p:sp>
      <p:sp>
        <p:nvSpPr>
          <p:cNvPr id="4" name="Text 1"/>
          <p:cNvSpPr/>
          <p:nvPr/>
        </p:nvSpPr>
        <p:spPr>
          <a:xfrm>
            <a:off x="822960" y="2377440"/>
            <a:ext cx="9601200" cy="182880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Predicción de Retrasos</a:t>
            </a:r>
            <a:endParaRPr lang="en-US" sz="4400" dirty="0"/>
          </a:p>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de Vuelos</a:t>
            </a:r>
            <a:endParaRPr lang="en-US" sz="4400" dirty="0"/>
          </a:p>
        </p:txBody>
      </p:sp>
      <p:sp>
        <p:nvSpPr>
          <p:cNvPr id="5" name="Text 2"/>
          <p:cNvSpPr/>
          <p:nvPr/>
        </p:nvSpPr>
        <p:spPr>
          <a:xfrm>
            <a:off x="822960" y="4160520"/>
            <a:ext cx="8686800" cy="822960"/>
          </a:xfrm>
          <a:prstGeom prst="rect">
            <a:avLst/>
          </a:prstGeom>
          <a:noFill/>
          <a:ln/>
        </p:spPr>
        <p:txBody>
          <a:bodyPr wrap="square" lIns="0" tIns="0" rIns="0" bIns="0" rtlCol="0" anchor="ctr"/>
          <a:lstStyle/>
          <a:p>
            <a:pPr indent="0" marL="0">
              <a:lnSpc>
                <a:spcPct val="120000"/>
              </a:lnSpc>
              <a:buNone/>
            </a:pPr>
            <a:r>
              <a:rPr lang="en-US" sz="1700" dirty="0">
                <a:solidFill>
                  <a:srgbClr val="CADCFC"/>
                </a:solidFill>
                <a:latin typeface="Calibri" pitchFamily="34" charset="0"/>
                <a:ea typeface="Calibri" pitchFamily="34" charset="-122"/>
                <a:cs typeface="Calibri" pitchFamily="34" charset="-120"/>
              </a:rPr>
              <a:t>Clasificación de retrasos y estimación de minutos exactos</a:t>
            </a:r>
            <a:endParaRPr lang="en-US" sz="1700" dirty="0"/>
          </a:p>
          <a:p>
            <a:pPr indent="0" marL="0">
              <a:lnSpc>
                <a:spcPct val="120000"/>
              </a:lnSpc>
              <a:buNone/>
            </a:pPr>
            <a:r>
              <a:rPr lang="en-US" sz="1700" dirty="0">
                <a:solidFill>
                  <a:srgbClr val="CADCFC"/>
                </a:solidFill>
                <a:latin typeface="Calibri" pitchFamily="34" charset="0"/>
                <a:ea typeface="Calibri" pitchFamily="34" charset="-122"/>
                <a:cs typeface="Calibri" pitchFamily="34" charset="-120"/>
              </a:rPr>
              <a:t>con Machine Learning, desde el dato crudo hasta un dashboard en vivo</a:t>
            </a:r>
            <a:endParaRPr lang="en-US" sz="1700" dirty="0"/>
          </a:p>
        </p:txBody>
      </p:sp>
      <p:sp>
        <p:nvSpPr>
          <p:cNvPr id="6" name="Text 3"/>
          <p:cNvSpPr/>
          <p:nvPr/>
        </p:nvSpPr>
        <p:spPr>
          <a:xfrm>
            <a:off x="822960" y="6035040"/>
            <a:ext cx="8229600" cy="365760"/>
          </a:xfrm>
          <a:prstGeom prst="rect">
            <a:avLst/>
          </a:prstGeom>
          <a:noFill/>
          <a:ln/>
        </p:spPr>
        <p:txBody>
          <a:bodyPr wrap="square" lIns="0" tIns="0" rIns="0" bIns="0" rtlCol="0" anchor="ctr"/>
          <a:lstStyle/>
          <a:p>
            <a:pPr indent="0" marL="0">
              <a:buNone/>
            </a:pPr>
            <a:r>
              <a:rPr lang="en-US" sz="1200" dirty="0">
                <a:solidFill>
                  <a:srgbClr val="8C97C2"/>
                </a:solidFill>
                <a:latin typeface="Calibri" pitchFamily="34" charset="0"/>
                <a:ea typeface="Calibri" pitchFamily="34" charset="-122"/>
                <a:cs typeface="Calibri" pitchFamily="34" charset="-120"/>
              </a:rPr>
              <a:t>Dataset: 2015 Flight Delays and Cancellations (Kaggle, usdot/flight-delays)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El Problema y el Objetivo</a:t>
            </a:r>
            <a:endParaRPr lang="en-US" sz="3000" dirty="0"/>
          </a:p>
        </p:txBody>
      </p:sp>
      <p:sp>
        <p:nvSpPr>
          <p:cNvPr id="3" name="Shape 1"/>
          <p:cNvSpPr/>
          <p:nvPr/>
        </p:nvSpPr>
        <p:spPr>
          <a:xfrm>
            <a:off x="754380" y="1485900"/>
            <a:ext cx="777240" cy="777240"/>
          </a:xfrm>
          <a:prstGeom prst="ellipse">
            <a:avLst/>
          </a:prstGeom>
          <a:solidFill>
            <a:srgbClr val="CADCFC"/>
          </a:solidFill>
          <a:ln/>
        </p:spPr>
      </p:sp>
      <p:pic>
        <p:nvPicPr>
          <p:cNvPr id="4" name="Image 0" descr="/home/claude/build/pptx_deck/icons/clock_navy.png">    </p:cNvPr>
          <p:cNvPicPr>
            <a:picLocks noChangeAspect="1"/>
          </p:cNvPicPr>
          <p:nvPr/>
        </p:nvPicPr>
        <p:blipFill>
          <a:blip r:embed="rId1"/>
          <a:stretch>
            <a:fillRect/>
          </a:stretch>
        </p:blipFill>
        <p:spPr>
          <a:xfrm>
            <a:off x="929259" y="1660779"/>
            <a:ext cx="427482" cy="427482"/>
          </a:xfrm>
          <a:prstGeom prst="rect">
            <a:avLst/>
          </a:prstGeom>
        </p:spPr>
      </p:pic>
      <p:sp>
        <p:nvSpPr>
          <p:cNvPr id="5" name="Text 2"/>
          <p:cNvSpPr/>
          <p:nvPr/>
        </p:nvSpPr>
        <p:spPr>
          <a:xfrm>
            <a:off x="640080" y="2468880"/>
            <a:ext cx="5120640" cy="822960"/>
          </a:xfrm>
          <a:prstGeom prst="rect">
            <a:avLst/>
          </a:prstGeom>
          <a:noFill/>
          <a:ln/>
        </p:spPr>
        <p:txBody>
          <a:bodyPr wrap="square" lIns="0" tIns="0" rIns="0" bIns="0" rtlCol="0" anchor="ctr"/>
          <a:lstStyle/>
          <a:p>
            <a:pPr indent="0" marL="0">
              <a:lnSpc>
                <a:spcPct val="120000"/>
              </a:lnSpc>
              <a:buNone/>
            </a:pPr>
            <a:r>
              <a:rPr lang="en-US" sz="1500" dirty="0">
                <a:solidFill>
                  <a:srgbClr val="33415C"/>
                </a:solidFill>
                <a:latin typeface="Calibri" pitchFamily="34" charset="0"/>
                <a:ea typeface="Calibri" pitchFamily="34" charset="-122"/>
                <a:cs typeface="Calibri" pitchFamily="34" charset="-120"/>
              </a:rPr>
              <a:t>Los retrasos son costosos e impredecibles para pasajeros, aerolíneas y aeropuertos.</a:t>
            </a:r>
            <a:endParaRPr lang="en-US" sz="1500" dirty="0"/>
          </a:p>
        </p:txBody>
      </p:sp>
      <p:sp>
        <p:nvSpPr>
          <p:cNvPr id="6" name="Shape 3"/>
          <p:cNvSpPr/>
          <p:nvPr/>
        </p:nvSpPr>
        <p:spPr>
          <a:xfrm>
            <a:off x="754380" y="3406140"/>
            <a:ext cx="777240" cy="777240"/>
          </a:xfrm>
          <a:prstGeom prst="ellipse">
            <a:avLst/>
          </a:prstGeom>
          <a:solidFill>
            <a:srgbClr val="CADCFC"/>
          </a:solidFill>
          <a:ln/>
        </p:spPr>
      </p:sp>
      <p:pic>
        <p:nvPicPr>
          <p:cNvPr id="7" name="Image 1" descr="/home/claude/build/pptx_deck/icons/bolt_navy.png">    </p:cNvPr>
          <p:cNvPicPr>
            <a:picLocks noChangeAspect="1"/>
          </p:cNvPicPr>
          <p:nvPr/>
        </p:nvPicPr>
        <p:blipFill>
          <a:blip r:embed="rId2"/>
          <a:stretch>
            <a:fillRect/>
          </a:stretch>
        </p:blipFill>
        <p:spPr>
          <a:xfrm>
            <a:off x="929259" y="3581019"/>
            <a:ext cx="427482" cy="427482"/>
          </a:xfrm>
          <a:prstGeom prst="rect">
            <a:avLst/>
          </a:prstGeom>
        </p:spPr>
      </p:pic>
      <p:sp>
        <p:nvSpPr>
          <p:cNvPr id="8" name="Text 4"/>
          <p:cNvSpPr/>
          <p:nvPr/>
        </p:nvSpPr>
        <p:spPr>
          <a:xfrm>
            <a:off x="640080" y="4389120"/>
            <a:ext cx="5120640" cy="1371600"/>
          </a:xfrm>
          <a:prstGeom prst="rect">
            <a:avLst/>
          </a:prstGeom>
          <a:noFill/>
          <a:ln/>
        </p:spPr>
        <p:txBody>
          <a:bodyPr wrap="square" lIns="0" tIns="0" rIns="0" bIns="0" rtlCol="0" anchor="ctr"/>
          <a:lstStyle/>
          <a:p>
            <a:pPr indent="0" marL="0">
              <a:lnSpc>
                <a:spcPct val="120000"/>
              </a:lnSpc>
              <a:buNone/>
            </a:pPr>
            <a:r>
              <a:rPr lang="en-US" sz="1500" b="1" dirty="0">
                <a:solidFill>
                  <a:srgbClr val="33415C"/>
                </a:solidFill>
                <a:latin typeface="Calibri" pitchFamily="34" charset="0"/>
                <a:ea typeface="Calibri" pitchFamily="34" charset="-122"/>
                <a:cs typeface="Calibri" pitchFamily="34" charset="-120"/>
              </a:rPr>
              <a:t>Objetivo: </a:t>
            </a:r>
            <a:pPr indent="0" marL="0">
              <a:lnSpc>
                <a:spcPct val="120000"/>
              </a:lnSpc>
              <a:buNone/>
            </a:pPr>
            <a:r>
              <a:rPr lang="en-US" sz="1500" dirty="0">
                <a:solidFill>
                  <a:srgbClr val="33415C"/>
                </a:solidFill>
                <a:latin typeface="Calibri" pitchFamily="34" charset="0"/>
                <a:ea typeface="Calibri" pitchFamily="34" charset="-122"/>
                <a:cs typeface="Calibri" pitchFamily="34" charset="-120"/>
              </a:rPr>
              <a:t>predecir, antes de que el vuelo despegue, (1) si se retrasará más de 15 minutos, y (2) cuántos minutos exactos — usando solo información disponible al reservar (aerolínea, ruta, fecha, hora).</a:t>
            </a:r>
            <a:endParaRPr lang="en-US" sz="1500" dirty="0"/>
          </a:p>
        </p:txBody>
      </p:sp>
      <p:sp>
        <p:nvSpPr>
          <p:cNvPr id="9" name="Shape 5"/>
          <p:cNvSpPr/>
          <p:nvPr/>
        </p:nvSpPr>
        <p:spPr>
          <a:xfrm>
            <a:off x="6400800" y="1463040"/>
            <a:ext cx="5120640" cy="4206240"/>
          </a:xfrm>
          <a:prstGeom prst="roundRect">
            <a:avLst>
              <a:gd name="adj" fmla="val 2609"/>
            </a:avLst>
          </a:prstGeom>
          <a:solidFill>
            <a:srgbClr val="F5F7FC"/>
          </a:solidFill>
          <a:ln/>
          <a:effectLst>
            <a:outerShdw sx="100000" sy="100000" kx="0" ky="0" algn="bl" rotWithShape="0" blurRad="101600" dist="38100" dir="2700000">
              <a:srgbClr val="000000">
                <a:alpha val="12000"/>
              </a:srgbClr>
            </a:outerShdw>
          </a:effectLst>
        </p:spPr>
      </p:sp>
      <p:sp>
        <p:nvSpPr>
          <p:cNvPr id="10" name="Text 6"/>
          <p:cNvSpPr/>
          <p:nvPr/>
        </p:nvSpPr>
        <p:spPr>
          <a:xfrm>
            <a:off x="6400800" y="2011680"/>
            <a:ext cx="5120640" cy="1005840"/>
          </a:xfrm>
          <a:prstGeom prst="rect">
            <a:avLst/>
          </a:prstGeom>
          <a:noFill/>
          <a:ln/>
        </p:spPr>
        <p:txBody>
          <a:bodyPr wrap="square" lIns="0" tIns="0" rIns="0" bIns="0" rtlCol="0" anchor="ctr"/>
          <a:lstStyle/>
          <a:p>
            <a:pPr algn="ctr" indent="0" marL="0">
              <a:buNone/>
            </a:pPr>
            <a:r>
              <a:rPr lang="en-US" sz="6400" b="1" dirty="0">
                <a:solidFill>
                  <a:srgbClr val="1E2761"/>
                </a:solidFill>
                <a:latin typeface="Cambria" pitchFamily="34" charset="0"/>
                <a:ea typeface="Cambria" pitchFamily="34" charset="-122"/>
                <a:cs typeface="Cambria" pitchFamily="34" charset="-120"/>
              </a:rPr>
              <a:t>39.1%</a:t>
            </a:r>
            <a:endParaRPr lang="en-US" sz="6400" dirty="0"/>
          </a:p>
        </p:txBody>
      </p:sp>
      <p:sp>
        <p:nvSpPr>
          <p:cNvPr id="11" name="Text 7"/>
          <p:cNvSpPr/>
          <p:nvPr/>
        </p:nvSpPr>
        <p:spPr>
          <a:xfrm>
            <a:off x="6675120" y="3063240"/>
            <a:ext cx="4572000" cy="731520"/>
          </a:xfrm>
          <a:prstGeom prst="rect">
            <a:avLst/>
          </a:prstGeom>
          <a:noFill/>
          <a:ln/>
        </p:spPr>
        <p:txBody>
          <a:bodyPr wrap="square" lIns="0" tIns="0" rIns="0" bIns="0" rtlCol="0" anchor="ctr"/>
          <a:lstStyle/>
          <a:p>
            <a:pPr algn="ctr" indent="0" marL="0">
              <a:lnSpc>
                <a:spcPct val="120000"/>
              </a:lnSpc>
              <a:buNone/>
            </a:pPr>
            <a:r>
              <a:rPr lang="en-US" sz="1400" dirty="0">
                <a:solidFill>
                  <a:srgbClr val="33415C"/>
                </a:solidFill>
                <a:latin typeface="Calibri" pitchFamily="34" charset="0"/>
                <a:ea typeface="Calibri" pitchFamily="34" charset="-122"/>
                <a:cs typeface="Calibri" pitchFamily="34" charset="-120"/>
              </a:rPr>
              <a:t>de los vuelos analizados salieron</a:t>
            </a:r>
            <a:endParaRPr lang="en-US" sz="1400" dirty="0"/>
          </a:p>
          <a:p>
            <a:pPr algn="ctr" indent="0" marL="0">
              <a:lnSpc>
                <a:spcPct val="120000"/>
              </a:lnSpc>
              <a:buNone/>
            </a:pPr>
            <a:r>
              <a:rPr lang="en-US" sz="1400" dirty="0">
                <a:solidFill>
                  <a:srgbClr val="33415C"/>
                </a:solidFill>
                <a:latin typeface="Calibri" pitchFamily="34" charset="0"/>
                <a:ea typeface="Calibri" pitchFamily="34" charset="-122"/>
                <a:cs typeface="Calibri" pitchFamily="34" charset="-120"/>
              </a:rPr>
              <a:t>con más de 15 minutos de retraso</a:t>
            </a:r>
            <a:endParaRPr lang="en-US" sz="1400" dirty="0"/>
          </a:p>
        </p:txBody>
      </p:sp>
      <p:sp>
        <p:nvSpPr>
          <p:cNvPr id="12" name="Shape 8"/>
          <p:cNvSpPr/>
          <p:nvPr/>
        </p:nvSpPr>
        <p:spPr>
          <a:xfrm>
            <a:off x="6949440" y="3977640"/>
            <a:ext cx="4023360" cy="0"/>
          </a:xfrm>
          <a:prstGeom prst="line">
            <a:avLst/>
          </a:prstGeom>
          <a:noFill/>
          <a:ln w="12700">
            <a:solidFill>
              <a:srgbClr val="D7DEEC"/>
            </a:solidFill>
            <a:prstDash val="solid"/>
          </a:ln>
        </p:spPr>
      </p:sp>
      <p:sp>
        <p:nvSpPr>
          <p:cNvPr id="13" name="Text 9"/>
          <p:cNvSpPr/>
          <p:nvPr/>
        </p:nvSpPr>
        <p:spPr>
          <a:xfrm>
            <a:off x="6675120" y="4206240"/>
            <a:ext cx="4572000" cy="1280160"/>
          </a:xfrm>
          <a:prstGeom prst="rect">
            <a:avLst/>
          </a:prstGeom>
          <a:noFill/>
          <a:ln/>
        </p:spPr>
        <p:txBody>
          <a:bodyPr wrap="square" lIns="0" tIns="0" rIns="0" bIns="0" rtlCol="0" anchor="ctr"/>
          <a:lstStyle/>
          <a:p>
            <a:pPr indent="0" marL="0">
              <a:lnSpc>
                <a:spcPct val="130000"/>
              </a:lnSpc>
              <a:spcAft>
                <a:spcPts val="1000"/>
              </a:spcAft>
              <a:buNone/>
            </a:pPr>
            <a:r>
              <a:rPr lang="en-US" sz="2200" b="1" dirty="0">
                <a:solidFill>
                  <a:srgbClr val="E8920B"/>
                </a:solidFill>
                <a:latin typeface="Calibri" pitchFamily="34" charset="0"/>
                <a:ea typeface="Calibri" pitchFamily="34" charset="-122"/>
                <a:cs typeface="Calibri" pitchFamily="34" charset="-120"/>
              </a:rPr>
              <a:t>73.4%</a:t>
            </a:r>
            <a:pPr indent="0" marL="0">
              <a:lnSpc>
                <a:spcPct val="130000"/>
              </a:lnSpc>
              <a:spcAft>
                <a:spcPts val="1000"/>
              </a:spcAft>
              <a:buNone/>
            </a:pPr>
            <a:r>
              <a:rPr lang="en-US" sz="1300" dirty="0">
                <a:solidFill>
                  <a:srgbClr val="33415C"/>
                </a:solidFill>
                <a:latin typeface="Calibri" pitchFamily="34" charset="0"/>
                <a:ea typeface="Calibri" pitchFamily="34" charset="-122"/>
                <a:cs typeface="Calibri" pitchFamily="34" charset="-120"/>
              </a:rPr>
              <a:t>  tasa de retraso a las 19:00 — la peor hora</a:t>
            </a:r>
            <a:endParaRPr lang="en-US" sz="2200" dirty="0"/>
          </a:p>
          <a:p>
            <a:pPr indent="0" marL="0">
              <a:lnSpc>
                <a:spcPct val="130000"/>
              </a:lnSpc>
              <a:spcAft>
                <a:spcPts val="1000"/>
              </a:spcAft>
              <a:buNone/>
            </a:pPr>
            <a:r>
              <a:rPr lang="en-US" sz="2200" b="1" dirty="0">
                <a:solidFill>
                  <a:srgbClr val="E8920B"/>
                </a:solidFill>
                <a:latin typeface="Calibri" pitchFamily="34" charset="0"/>
                <a:ea typeface="Calibri" pitchFamily="34" charset="-122"/>
                <a:cs typeface="Calibri" pitchFamily="34" charset="-120"/>
              </a:rPr>
              <a:t>67.5%</a:t>
            </a:r>
            <a:pPr indent="0" marL="0">
              <a:lnSpc>
                <a:spcPct val="130000"/>
              </a:lnSpc>
              <a:spcAft>
                <a:spcPts val="1000"/>
              </a:spcAft>
              <a:buNone/>
            </a:pPr>
            <a:r>
              <a:rPr lang="en-US" sz="1300" dirty="0">
                <a:solidFill>
                  <a:srgbClr val="33415C"/>
                </a:solidFill>
                <a:latin typeface="Calibri" pitchFamily="34" charset="0"/>
                <a:ea typeface="Calibri" pitchFamily="34" charset="-122"/>
                <a:cs typeface="Calibri" pitchFamily="34" charset="-120"/>
              </a:rPr>
              <a:t>  tasa de retraso de la peor aerolínea</a:t>
            </a:r>
            <a:endParaRPr lang="en-US" sz="2200" dirty="0"/>
          </a:p>
        </p:txBody>
      </p:sp>
      <p:sp>
        <p:nvSpPr>
          <p:cNvPr id="14" name="Text 10"/>
          <p:cNvSpPr/>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Predicción de Retrasos de Vuelos</a:t>
            </a:r>
            <a:endParaRPr lang="en-US" sz="1000" dirty="0"/>
          </a:p>
        </p:txBody>
      </p:sp>
      <p:sp>
        <p:nvSpPr>
          <p:cNvPr id="15" name="Text 11"/>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1000" dirty="0">
                <a:solidFill>
                  <a:srgbClr val="6B7A99"/>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0584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Cómo lo Hicimos: el Notebook</a:t>
            </a:r>
            <a:endParaRPr lang="en-US" sz="3000" dirty="0"/>
          </a:p>
        </p:txBody>
      </p:sp>
      <p:sp>
        <p:nvSpPr>
          <p:cNvPr id="3" name="Text 1"/>
          <p:cNvSpPr/>
          <p:nvPr/>
        </p:nvSpPr>
        <p:spPr>
          <a:xfrm>
            <a:off x="640080" y="1078992"/>
            <a:ext cx="10058400" cy="365760"/>
          </a:xfrm>
          <a:prstGeom prst="rect">
            <a:avLst/>
          </a:prstGeom>
          <a:noFill/>
          <a:ln/>
        </p:spPr>
        <p:txBody>
          <a:bodyPr wrap="square" lIns="0" tIns="0" rIns="0" bIns="0" rtlCol="0" anchor="ctr"/>
          <a:lstStyle/>
          <a:p>
            <a:pPr indent="0" marL="0">
              <a:buNone/>
            </a:pPr>
            <a:r>
              <a:rPr lang="en-US" sz="1400" dirty="0">
                <a:solidFill>
                  <a:srgbClr val="6B7A99"/>
                </a:solidFill>
                <a:latin typeface="Calibri" pitchFamily="34" charset="0"/>
                <a:ea typeface="Calibri" pitchFamily="34" charset="-122"/>
                <a:cs typeface="Calibri" pitchFamily="34" charset="-120"/>
              </a:rPr>
              <a:t>Un Jupyter Notebook reproducible en Google Colab, organizado en 5 etapas (9 tareas en total)</a:t>
            </a:r>
            <a:endParaRPr lang="en-US" sz="1400" dirty="0"/>
          </a:p>
        </p:txBody>
      </p:sp>
      <p:sp>
        <p:nvSpPr>
          <p:cNvPr id="4" name="Shape 2"/>
          <p:cNvSpPr/>
          <p:nvPr/>
        </p:nvSpPr>
        <p:spPr>
          <a:xfrm>
            <a:off x="640080" y="1828800"/>
            <a:ext cx="2084832" cy="3383280"/>
          </a:xfrm>
          <a:prstGeom prst="roundRect">
            <a:avLst>
              <a:gd name="adj" fmla="val 4386"/>
            </a:avLst>
          </a:prstGeom>
          <a:solidFill>
            <a:srgbClr val="F5F7FC"/>
          </a:solidFill>
          <a:ln/>
          <a:effectLst>
            <a:outerShdw sx="100000" sy="100000" kx="0" ky="0" algn="bl" rotWithShape="0" blurRad="76200" dist="25400" dir="5400000">
              <a:srgbClr val="000000">
                <a:alpha val="8000"/>
              </a:srgbClr>
            </a:outerShdw>
          </a:effectLst>
        </p:spPr>
      </p:sp>
      <p:sp>
        <p:nvSpPr>
          <p:cNvPr id="5" name="Shape 3"/>
          <p:cNvSpPr/>
          <p:nvPr/>
        </p:nvSpPr>
        <p:spPr>
          <a:xfrm>
            <a:off x="1316736" y="2148840"/>
            <a:ext cx="731520" cy="731520"/>
          </a:xfrm>
          <a:prstGeom prst="ellipse">
            <a:avLst/>
          </a:prstGeom>
          <a:solidFill>
            <a:srgbClr val="CADCFC"/>
          </a:solidFill>
          <a:ln/>
        </p:spPr>
      </p:sp>
      <p:pic>
        <p:nvPicPr>
          <p:cNvPr id="6" name="Image 0" descr="/home/claude/build/pptx_deck/icons/broom_navy.png">    </p:cNvPr>
          <p:cNvPicPr>
            <a:picLocks noChangeAspect="1"/>
          </p:cNvPicPr>
          <p:nvPr/>
        </p:nvPicPr>
        <p:blipFill>
          <a:blip r:embed="rId1"/>
          <a:stretch>
            <a:fillRect/>
          </a:stretch>
        </p:blipFill>
        <p:spPr>
          <a:xfrm>
            <a:off x="1481328" y="2313432"/>
            <a:ext cx="402336" cy="402336"/>
          </a:xfrm>
          <a:prstGeom prst="rect">
            <a:avLst/>
          </a:prstGeom>
        </p:spPr>
      </p:pic>
      <p:sp>
        <p:nvSpPr>
          <p:cNvPr id="7" name="Text 4"/>
          <p:cNvSpPr/>
          <p:nvPr/>
        </p:nvSpPr>
        <p:spPr>
          <a:xfrm>
            <a:off x="777240" y="3063240"/>
            <a:ext cx="1810512" cy="365760"/>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1. Datos</a:t>
            </a:r>
            <a:endParaRPr lang="en-US" sz="1500" dirty="0"/>
          </a:p>
        </p:txBody>
      </p:sp>
      <p:sp>
        <p:nvSpPr>
          <p:cNvPr id="8" name="Text 5"/>
          <p:cNvSpPr/>
          <p:nvPr/>
        </p:nvSpPr>
        <p:spPr>
          <a:xfrm>
            <a:off x="804672" y="3520440"/>
            <a:ext cx="1755648" cy="1554480"/>
          </a:xfrm>
          <a:prstGeom prst="rect">
            <a:avLst/>
          </a:prstGeom>
          <a:noFill/>
          <a:ln/>
        </p:spPr>
        <p:txBody>
          <a:bodyPr wrap="square" lIns="0" tIns="0" rIns="0" bIns="0" rtlCol="0" anchor="ctr"/>
          <a:lstStyle/>
          <a:p>
            <a:pPr algn="ctr" indent="0" marL="0">
              <a:lnSpc>
                <a:spcPct val="125000"/>
              </a:lnSpc>
              <a:buNone/>
            </a:pPr>
            <a:r>
              <a:rPr lang="en-US" sz="1150" dirty="0">
                <a:solidFill>
                  <a:srgbClr val="33415C"/>
                </a:solidFill>
                <a:latin typeface="Calibri" pitchFamily="34" charset="0"/>
                <a:ea typeface="Calibri" pitchFamily="34" charset="-122"/>
                <a:cs typeface="Calibri" pitchFamily="34" charset="-120"/>
              </a:rPr>
              <a:t>Comprensión y limpieza: duplicados, cancelados, fechas/horas, outliers</a:t>
            </a:r>
            <a:endParaRPr lang="en-US" sz="1150" dirty="0"/>
          </a:p>
        </p:txBody>
      </p:sp>
      <p:sp>
        <p:nvSpPr>
          <p:cNvPr id="9" name="Shape 6"/>
          <p:cNvSpPr/>
          <p:nvPr/>
        </p:nvSpPr>
        <p:spPr>
          <a:xfrm>
            <a:off x="2926080" y="1828800"/>
            <a:ext cx="2084832" cy="3383280"/>
          </a:xfrm>
          <a:prstGeom prst="roundRect">
            <a:avLst>
              <a:gd name="adj" fmla="val 4386"/>
            </a:avLst>
          </a:prstGeom>
          <a:solidFill>
            <a:srgbClr val="F5F7FC"/>
          </a:solidFill>
          <a:ln/>
          <a:effectLst>
            <a:outerShdw sx="100000" sy="100000" kx="0" ky="0" algn="bl" rotWithShape="0" blurRad="76200" dist="25400" dir="5400000">
              <a:srgbClr val="000000">
                <a:alpha val="8000"/>
              </a:srgbClr>
            </a:outerShdw>
          </a:effectLst>
        </p:spPr>
      </p:sp>
      <p:sp>
        <p:nvSpPr>
          <p:cNvPr id="10" name="Shape 7"/>
          <p:cNvSpPr/>
          <p:nvPr/>
        </p:nvSpPr>
        <p:spPr>
          <a:xfrm>
            <a:off x="3602736" y="2148840"/>
            <a:ext cx="731520" cy="731520"/>
          </a:xfrm>
          <a:prstGeom prst="ellipse">
            <a:avLst/>
          </a:prstGeom>
          <a:solidFill>
            <a:srgbClr val="CADCFC"/>
          </a:solidFill>
          <a:ln/>
        </p:spPr>
      </p:sp>
      <p:pic>
        <p:nvPicPr>
          <p:cNvPr id="11" name="Image 1" descr="/home/claude/build/pptx_deck/icons/chartbar_navy.png">    </p:cNvPr>
          <p:cNvPicPr>
            <a:picLocks noChangeAspect="1"/>
          </p:cNvPicPr>
          <p:nvPr/>
        </p:nvPicPr>
        <p:blipFill>
          <a:blip r:embed="rId2"/>
          <a:stretch>
            <a:fillRect/>
          </a:stretch>
        </p:blipFill>
        <p:spPr>
          <a:xfrm>
            <a:off x="3767328" y="2313432"/>
            <a:ext cx="402336" cy="402336"/>
          </a:xfrm>
          <a:prstGeom prst="rect">
            <a:avLst/>
          </a:prstGeom>
        </p:spPr>
      </p:pic>
      <p:sp>
        <p:nvSpPr>
          <p:cNvPr id="12" name="Text 8"/>
          <p:cNvSpPr/>
          <p:nvPr/>
        </p:nvSpPr>
        <p:spPr>
          <a:xfrm>
            <a:off x="3063240" y="3063240"/>
            <a:ext cx="1810512" cy="365760"/>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2. EDA</a:t>
            </a:r>
            <a:endParaRPr lang="en-US" sz="1500" dirty="0"/>
          </a:p>
        </p:txBody>
      </p:sp>
      <p:sp>
        <p:nvSpPr>
          <p:cNvPr id="13" name="Text 9"/>
          <p:cNvSpPr/>
          <p:nvPr/>
        </p:nvSpPr>
        <p:spPr>
          <a:xfrm>
            <a:off x="3090672" y="3520440"/>
            <a:ext cx="1755648" cy="1554480"/>
          </a:xfrm>
          <a:prstGeom prst="rect">
            <a:avLst/>
          </a:prstGeom>
          <a:noFill/>
          <a:ln/>
        </p:spPr>
        <p:txBody>
          <a:bodyPr wrap="square" lIns="0" tIns="0" rIns="0" bIns="0" rtlCol="0" anchor="ctr"/>
          <a:lstStyle/>
          <a:p>
            <a:pPr algn="ctr" indent="0" marL="0">
              <a:lnSpc>
                <a:spcPct val="125000"/>
              </a:lnSpc>
              <a:buNone/>
            </a:pPr>
            <a:r>
              <a:rPr lang="en-US" sz="1150" dirty="0">
                <a:solidFill>
                  <a:srgbClr val="33415C"/>
                </a:solidFill>
                <a:latin typeface="Calibri" pitchFamily="34" charset="0"/>
                <a:ea typeface="Calibri" pitchFamily="34" charset="-122"/>
                <a:cs typeface="Calibri" pitchFamily="34" charset="-120"/>
              </a:rPr>
              <a:t>Patrones de retraso por aerolínea, aeropuerto, mes y hora</a:t>
            </a:r>
            <a:endParaRPr lang="en-US" sz="1150" dirty="0"/>
          </a:p>
        </p:txBody>
      </p:sp>
      <p:sp>
        <p:nvSpPr>
          <p:cNvPr id="14" name="Shape 10"/>
          <p:cNvSpPr/>
          <p:nvPr/>
        </p:nvSpPr>
        <p:spPr>
          <a:xfrm>
            <a:off x="5212080" y="1828800"/>
            <a:ext cx="2084832" cy="3383280"/>
          </a:xfrm>
          <a:prstGeom prst="roundRect">
            <a:avLst>
              <a:gd name="adj" fmla="val 4386"/>
            </a:avLst>
          </a:prstGeom>
          <a:solidFill>
            <a:srgbClr val="F5F7FC"/>
          </a:solidFill>
          <a:ln/>
          <a:effectLst>
            <a:outerShdw sx="100000" sy="100000" kx="0" ky="0" algn="bl" rotWithShape="0" blurRad="76200" dist="25400" dir="5400000">
              <a:srgbClr val="000000">
                <a:alpha val="8000"/>
              </a:srgbClr>
            </a:outerShdw>
          </a:effectLst>
        </p:spPr>
      </p:sp>
      <p:sp>
        <p:nvSpPr>
          <p:cNvPr id="15" name="Shape 11"/>
          <p:cNvSpPr/>
          <p:nvPr/>
        </p:nvSpPr>
        <p:spPr>
          <a:xfrm>
            <a:off x="5888736" y="2148840"/>
            <a:ext cx="731520" cy="731520"/>
          </a:xfrm>
          <a:prstGeom prst="ellipse">
            <a:avLst/>
          </a:prstGeom>
          <a:solidFill>
            <a:srgbClr val="CADCFC"/>
          </a:solidFill>
          <a:ln/>
        </p:spPr>
      </p:sp>
      <p:pic>
        <p:nvPicPr>
          <p:cNvPr id="16" name="Image 2" descr="/home/claude/build/pptx_deck/icons/cogs_navy.png">    </p:cNvPr>
          <p:cNvPicPr>
            <a:picLocks noChangeAspect="1"/>
          </p:cNvPicPr>
          <p:nvPr/>
        </p:nvPicPr>
        <p:blipFill>
          <a:blip r:embed="rId3"/>
          <a:stretch>
            <a:fillRect/>
          </a:stretch>
        </p:blipFill>
        <p:spPr>
          <a:xfrm>
            <a:off x="6053328" y="2313432"/>
            <a:ext cx="402336" cy="402336"/>
          </a:xfrm>
          <a:prstGeom prst="rect">
            <a:avLst/>
          </a:prstGeom>
        </p:spPr>
      </p:pic>
      <p:sp>
        <p:nvSpPr>
          <p:cNvPr id="17" name="Text 12"/>
          <p:cNvSpPr/>
          <p:nvPr/>
        </p:nvSpPr>
        <p:spPr>
          <a:xfrm>
            <a:off x="5349240" y="3063240"/>
            <a:ext cx="1810512" cy="365760"/>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3. Variables</a:t>
            </a:r>
            <a:endParaRPr lang="en-US" sz="1500" dirty="0"/>
          </a:p>
        </p:txBody>
      </p:sp>
      <p:sp>
        <p:nvSpPr>
          <p:cNvPr id="18" name="Text 13"/>
          <p:cNvSpPr/>
          <p:nvPr/>
        </p:nvSpPr>
        <p:spPr>
          <a:xfrm>
            <a:off x="5376672" y="3520440"/>
            <a:ext cx="1755648" cy="1554480"/>
          </a:xfrm>
          <a:prstGeom prst="rect">
            <a:avLst/>
          </a:prstGeom>
          <a:noFill/>
          <a:ln/>
        </p:spPr>
        <p:txBody>
          <a:bodyPr wrap="square" lIns="0" tIns="0" rIns="0" bIns="0" rtlCol="0" anchor="ctr"/>
          <a:lstStyle/>
          <a:p>
            <a:pPr algn="ctr" indent="0" marL="0">
              <a:lnSpc>
                <a:spcPct val="125000"/>
              </a:lnSpc>
              <a:buNone/>
            </a:pPr>
            <a:r>
              <a:rPr lang="en-US" sz="1150" dirty="0">
                <a:solidFill>
                  <a:srgbClr val="33415C"/>
                </a:solidFill>
                <a:latin typeface="Calibri" pitchFamily="34" charset="0"/>
                <a:ea typeface="Calibri" pitchFamily="34" charset="-122"/>
                <a:cs typeface="Calibri" pitchFamily="34" charset="-120"/>
              </a:rPr>
              <a:t>Variables temporales, de ruta e históricas — sin data leakage</a:t>
            </a:r>
            <a:endParaRPr lang="en-US" sz="1150" dirty="0"/>
          </a:p>
        </p:txBody>
      </p:sp>
      <p:sp>
        <p:nvSpPr>
          <p:cNvPr id="19" name="Shape 14"/>
          <p:cNvSpPr/>
          <p:nvPr/>
        </p:nvSpPr>
        <p:spPr>
          <a:xfrm>
            <a:off x="7498080" y="1828800"/>
            <a:ext cx="2084832" cy="3383280"/>
          </a:xfrm>
          <a:prstGeom prst="roundRect">
            <a:avLst>
              <a:gd name="adj" fmla="val 4386"/>
            </a:avLst>
          </a:prstGeom>
          <a:solidFill>
            <a:srgbClr val="F5F7FC"/>
          </a:solidFill>
          <a:ln/>
          <a:effectLst>
            <a:outerShdw sx="100000" sy="100000" kx="0" ky="0" algn="bl" rotWithShape="0" blurRad="76200" dist="25400" dir="5400000">
              <a:srgbClr val="000000">
                <a:alpha val="8000"/>
              </a:srgbClr>
            </a:outerShdw>
          </a:effectLst>
        </p:spPr>
      </p:sp>
      <p:sp>
        <p:nvSpPr>
          <p:cNvPr id="20" name="Shape 15"/>
          <p:cNvSpPr/>
          <p:nvPr/>
        </p:nvSpPr>
        <p:spPr>
          <a:xfrm>
            <a:off x="8174736" y="2148840"/>
            <a:ext cx="731520" cy="731520"/>
          </a:xfrm>
          <a:prstGeom prst="ellipse">
            <a:avLst/>
          </a:prstGeom>
          <a:solidFill>
            <a:srgbClr val="CADCFC"/>
          </a:solidFill>
          <a:ln/>
        </p:spPr>
      </p:sp>
      <p:pic>
        <p:nvPicPr>
          <p:cNvPr id="21" name="Image 3" descr="/home/claude/build/pptx_deck/icons/brain_navy.png">    </p:cNvPr>
          <p:cNvPicPr>
            <a:picLocks noChangeAspect="1"/>
          </p:cNvPicPr>
          <p:nvPr/>
        </p:nvPicPr>
        <p:blipFill>
          <a:blip r:embed="rId4"/>
          <a:stretch>
            <a:fillRect/>
          </a:stretch>
        </p:blipFill>
        <p:spPr>
          <a:xfrm>
            <a:off x="8339328" y="2313432"/>
            <a:ext cx="402336" cy="402336"/>
          </a:xfrm>
          <a:prstGeom prst="rect">
            <a:avLst/>
          </a:prstGeom>
        </p:spPr>
      </p:pic>
      <p:sp>
        <p:nvSpPr>
          <p:cNvPr id="22" name="Text 16"/>
          <p:cNvSpPr/>
          <p:nvPr/>
        </p:nvSpPr>
        <p:spPr>
          <a:xfrm>
            <a:off x="7635240" y="3063240"/>
            <a:ext cx="1810512" cy="365760"/>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4. Modelos</a:t>
            </a:r>
            <a:endParaRPr lang="en-US" sz="1500" dirty="0"/>
          </a:p>
        </p:txBody>
      </p:sp>
      <p:sp>
        <p:nvSpPr>
          <p:cNvPr id="23" name="Text 17"/>
          <p:cNvSpPr/>
          <p:nvPr/>
        </p:nvSpPr>
        <p:spPr>
          <a:xfrm>
            <a:off x="7662672" y="3520440"/>
            <a:ext cx="1755648" cy="1554480"/>
          </a:xfrm>
          <a:prstGeom prst="rect">
            <a:avLst/>
          </a:prstGeom>
          <a:noFill/>
          <a:ln/>
        </p:spPr>
        <p:txBody>
          <a:bodyPr wrap="square" lIns="0" tIns="0" rIns="0" bIns="0" rtlCol="0" anchor="ctr"/>
          <a:lstStyle/>
          <a:p>
            <a:pPr algn="ctr" indent="0" marL="0">
              <a:lnSpc>
                <a:spcPct val="125000"/>
              </a:lnSpc>
              <a:buNone/>
            </a:pPr>
            <a:r>
              <a:rPr lang="en-US" sz="1150" dirty="0">
                <a:solidFill>
                  <a:srgbClr val="33415C"/>
                </a:solidFill>
                <a:latin typeface="Calibri" pitchFamily="34" charset="0"/>
                <a:ea typeface="Calibri" pitchFamily="34" charset="-122"/>
                <a:cs typeface="Calibri" pitchFamily="34" charset="-120"/>
              </a:rPr>
              <a:t>Clasificación (3 modelos) + regresión bonus, evaluación completa</a:t>
            </a:r>
            <a:endParaRPr lang="en-US" sz="1150" dirty="0"/>
          </a:p>
        </p:txBody>
      </p:sp>
      <p:sp>
        <p:nvSpPr>
          <p:cNvPr id="24" name="Shape 18"/>
          <p:cNvSpPr/>
          <p:nvPr/>
        </p:nvSpPr>
        <p:spPr>
          <a:xfrm>
            <a:off x="9784080" y="1828800"/>
            <a:ext cx="2084832" cy="3383280"/>
          </a:xfrm>
          <a:prstGeom prst="roundRect">
            <a:avLst>
              <a:gd name="adj" fmla="val 4386"/>
            </a:avLst>
          </a:prstGeom>
          <a:solidFill>
            <a:srgbClr val="F5F7FC"/>
          </a:solidFill>
          <a:ln/>
          <a:effectLst>
            <a:outerShdw sx="100000" sy="100000" kx="0" ky="0" algn="bl" rotWithShape="0" blurRad="76200" dist="25400" dir="5400000">
              <a:srgbClr val="000000">
                <a:alpha val="8000"/>
              </a:srgbClr>
            </a:outerShdw>
          </a:effectLst>
        </p:spPr>
      </p:sp>
      <p:sp>
        <p:nvSpPr>
          <p:cNvPr id="25" name="Shape 19"/>
          <p:cNvSpPr/>
          <p:nvPr/>
        </p:nvSpPr>
        <p:spPr>
          <a:xfrm>
            <a:off x="10460736" y="2148840"/>
            <a:ext cx="731520" cy="731520"/>
          </a:xfrm>
          <a:prstGeom prst="ellipse">
            <a:avLst/>
          </a:prstGeom>
          <a:solidFill>
            <a:srgbClr val="CADCFC"/>
          </a:solidFill>
          <a:ln/>
        </p:spPr>
      </p:sp>
      <p:pic>
        <p:nvPicPr>
          <p:cNvPr id="26" name="Image 4" descr="/home/claude/build/pptx_deck/icons/search_navy.png">    </p:cNvPr>
          <p:cNvPicPr>
            <a:picLocks noChangeAspect="1"/>
          </p:cNvPicPr>
          <p:nvPr/>
        </p:nvPicPr>
        <p:blipFill>
          <a:blip r:embed="rId5"/>
          <a:stretch>
            <a:fillRect/>
          </a:stretch>
        </p:blipFill>
        <p:spPr>
          <a:xfrm>
            <a:off x="10625328" y="2313432"/>
            <a:ext cx="402336" cy="402336"/>
          </a:xfrm>
          <a:prstGeom prst="rect">
            <a:avLst/>
          </a:prstGeom>
        </p:spPr>
      </p:pic>
      <p:sp>
        <p:nvSpPr>
          <p:cNvPr id="27" name="Text 20"/>
          <p:cNvSpPr/>
          <p:nvPr/>
        </p:nvSpPr>
        <p:spPr>
          <a:xfrm>
            <a:off x="9921240" y="3063240"/>
            <a:ext cx="1810512" cy="365760"/>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5. Insights</a:t>
            </a:r>
            <a:endParaRPr lang="en-US" sz="1500" dirty="0"/>
          </a:p>
        </p:txBody>
      </p:sp>
      <p:sp>
        <p:nvSpPr>
          <p:cNvPr id="28" name="Text 21"/>
          <p:cNvSpPr/>
          <p:nvPr/>
        </p:nvSpPr>
        <p:spPr>
          <a:xfrm>
            <a:off x="9948672" y="3520440"/>
            <a:ext cx="1755648" cy="1554480"/>
          </a:xfrm>
          <a:prstGeom prst="rect">
            <a:avLst/>
          </a:prstGeom>
          <a:noFill/>
          <a:ln/>
        </p:spPr>
        <p:txBody>
          <a:bodyPr wrap="square" lIns="0" tIns="0" rIns="0" bIns="0" rtlCol="0" anchor="ctr"/>
          <a:lstStyle/>
          <a:p>
            <a:pPr algn="ctr" indent="0" marL="0">
              <a:lnSpc>
                <a:spcPct val="125000"/>
              </a:lnSpc>
              <a:buNone/>
            </a:pPr>
            <a:r>
              <a:rPr lang="en-US" sz="1150" dirty="0">
                <a:solidFill>
                  <a:srgbClr val="33415C"/>
                </a:solidFill>
                <a:latin typeface="Calibri" pitchFamily="34" charset="0"/>
                <a:ea typeface="Calibri" pitchFamily="34" charset="-122"/>
                <a:cs typeface="Calibri" pitchFamily="34" charset="-120"/>
              </a:rPr>
              <a:t>Interpretación y recomendaciones de negocio</a:t>
            </a:r>
            <a:endParaRPr lang="en-US" sz="1150" dirty="0"/>
          </a:p>
        </p:txBody>
      </p:sp>
      <p:sp>
        <p:nvSpPr>
          <p:cNvPr id="29" name="Text 22"/>
          <p:cNvSpPr/>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Predicción de Retrasos de Vuelos</a:t>
            </a:r>
            <a:endParaRPr lang="en-US" sz="1000" dirty="0"/>
          </a:p>
        </p:txBody>
      </p:sp>
      <p:sp>
        <p:nvSpPr>
          <p:cNvPr id="30" name="Text 2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1000" dirty="0">
                <a:solidFill>
                  <a:srgbClr val="6B7A99"/>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0584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Hallazgos del Análisis Exploratorio</a:t>
            </a:r>
            <a:endParaRPr lang="en-US" sz="3000" dirty="0"/>
          </a:p>
        </p:txBody>
      </p:sp>
      <p:pic>
        <p:nvPicPr>
          <p:cNvPr id="3" name="Image 0" descr="/home/claude/build/notebook_images/cell_36_0.png">    </p:cNvPr>
          <p:cNvPicPr>
            <a:picLocks noChangeAspect="1"/>
          </p:cNvPicPr>
          <p:nvPr/>
        </p:nvPicPr>
        <p:blipFill>
          <a:blip r:embed="rId1"/>
          <a:srcRect l="0" r="0" t="0" b="0"/>
          <a:stretch/>
        </p:blipFill>
        <p:spPr>
          <a:xfrm>
            <a:off x="457200" y="1691640"/>
            <a:ext cx="6949440" cy="3447288"/>
          </a:xfrm>
          <a:prstGeom prst="rect">
            <a:avLst/>
          </a:prstGeom>
        </p:spPr>
      </p:pic>
      <p:sp>
        <p:nvSpPr>
          <p:cNvPr id="4" name="Text 1"/>
          <p:cNvSpPr/>
          <p:nvPr/>
        </p:nvSpPr>
        <p:spPr>
          <a:xfrm>
            <a:off x="457200" y="5257800"/>
            <a:ext cx="6949440" cy="320040"/>
          </a:xfrm>
          <a:prstGeom prst="rect">
            <a:avLst/>
          </a:prstGeom>
          <a:noFill/>
          <a:ln/>
        </p:spPr>
        <p:txBody>
          <a:bodyPr wrap="square" lIns="0" tIns="0" rIns="0" bIns="0" rtlCol="0" anchor="ctr"/>
          <a:lstStyle/>
          <a:p>
            <a:pPr algn="ctr" indent="0" marL="0">
              <a:buNone/>
            </a:pPr>
            <a:r>
              <a:rPr lang="en-US" sz="1200" i="1" dirty="0">
                <a:solidFill>
                  <a:srgbClr val="6B7A99"/>
                </a:solidFill>
                <a:latin typeface="Calibri" pitchFamily="34" charset="0"/>
                <a:ea typeface="Calibri" pitchFamily="34" charset="-122"/>
                <a:cs typeface="Calibri" pitchFamily="34" charset="-120"/>
              </a:rPr>
              <a:t>Tasa de retraso por hora de salida programada</a:t>
            </a:r>
            <a:endParaRPr lang="en-US" sz="1200" dirty="0"/>
          </a:p>
        </p:txBody>
      </p:sp>
      <p:sp>
        <p:nvSpPr>
          <p:cNvPr id="5" name="Shape 2"/>
          <p:cNvSpPr/>
          <p:nvPr/>
        </p:nvSpPr>
        <p:spPr>
          <a:xfrm>
            <a:off x="7744968" y="1865376"/>
            <a:ext cx="420624" cy="420624"/>
          </a:xfrm>
          <a:prstGeom prst="ellipse">
            <a:avLst/>
          </a:prstGeom>
          <a:solidFill>
            <a:srgbClr val="CADCFC"/>
          </a:solidFill>
          <a:ln/>
        </p:spPr>
      </p:sp>
      <p:pic>
        <p:nvPicPr>
          <p:cNvPr id="6" name="Image 1" descr="/home/claude/build/pptx_deck/icons/bolt_navy.png">    </p:cNvPr>
          <p:cNvPicPr>
            <a:picLocks noChangeAspect="1"/>
          </p:cNvPicPr>
          <p:nvPr/>
        </p:nvPicPr>
        <p:blipFill>
          <a:blip r:embed="rId2"/>
          <a:stretch>
            <a:fillRect/>
          </a:stretch>
        </p:blipFill>
        <p:spPr>
          <a:xfrm>
            <a:off x="7839608" y="1960016"/>
            <a:ext cx="231343" cy="231343"/>
          </a:xfrm>
          <a:prstGeom prst="rect">
            <a:avLst/>
          </a:prstGeom>
        </p:spPr>
      </p:pic>
      <p:sp>
        <p:nvSpPr>
          <p:cNvPr id="7" name="Text 3"/>
          <p:cNvSpPr/>
          <p:nvPr/>
        </p:nvSpPr>
        <p:spPr>
          <a:xfrm>
            <a:off x="8412480" y="1783080"/>
            <a:ext cx="3246120" cy="914400"/>
          </a:xfrm>
          <a:prstGeom prst="rect">
            <a:avLst/>
          </a:prstGeom>
          <a:noFill/>
          <a:ln/>
        </p:spPr>
        <p:txBody>
          <a:bodyPr wrap="square" lIns="0" tIns="0" rIns="0" bIns="0" rtlCol="0" anchor="ctr"/>
          <a:lstStyle/>
          <a:p>
            <a:pPr indent="0" marL="0">
              <a:lnSpc>
                <a:spcPct val="120000"/>
              </a:lnSpc>
              <a:buNone/>
            </a:pPr>
            <a:r>
              <a:rPr lang="en-US" sz="1350" dirty="0">
                <a:solidFill>
                  <a:srgbClr val="33415C"/>
                </a:solidFill>
                <a:latin typeface="Calibri" pitchFamily="34" charset="0"/>
                <a:ea typeface="Calibri" pitchFamily="34" charset="-122"/>
                <a:cs typeface="Calibri" pitchFamily="34" charset="-120"/>
              </a:rPr>
              <a:t>Los retrasos se acumulan a lo largo del día: la tasa sube de forma constante desde la mañana hasta la noche.</a:t>
            </a:r>
            <a:endParaRPr lang="en-US" sz="1350" dirty="0"/>
          </a:p>
        </p:txBody>
      </p:sp>
      <p:sp>
        <p:nvSpPr>
          <p:cNvPr id="8" name="Shape 4"/>
          <p:cNvSpPr/>
          <p:nvPr/>
        </p:nvSpPr>
        <p:spPr>
          <a:xfrm>
            <a:off x="7744968" y="2944368"/>
            <a:ext cx="420624" cy="420624"/>
          </a:xfrm>
          <a:prstGeom prst="ellipse">
            <a:avLst/>
          </a:prstGeom>
          <a:solidFill>
            <a:srgbClr val="CADCFC"/>
          </a:solidFill>
          <a:ln/>
        </p:spPr>
      </p:sp>
      <p:pic>
        <p:nvPicPr>
          <p:cNvPr id="9" name="Image 2" descr="/home/claude/build/pptx_deck/icons/bolt_navy.png">    </p:cNvPr>
          <p:cNvPicPr>
            <a:picLocks noChangeAspect="1"/>
          </p:cNvPicPr>
          <p:nvPr/>
        </p:nvPicPr>
        <p:blipFill>
          <a:blip r:embed="rId3"/>
          <a:stretch>
            <a:fillRect/>
          </a:stretch>
        </p:blipFill>
        <p:spPr>
          <a:xfrm>
            <a:off x="7839608" y="3039008"/>
            <a:ext cx="231343" cy="231343"/>
          </a:xfrm>
          <a:prstGeom prst="rect">
            <a:avLst/>
          </a:prstGeom>
        </p:spPr>
      </p:pic>
      <p:sp>
        <p:nvSpPr>
          <p:cNvPr id="10" name="Text 5"/>
          <p:cNvSpPr/>
          <p:nvPr/>
        </p:nvSpPr>
        <p:spPr>
          <a:xfrm>
            <a:off x="8412480" y="2862072"/>
            <a:ext cx="3246120" cy="914400"/>
          </a:xfrm>
          <a:prstGeom prst="rect">
            <a:avLst/>
          </a:prstGeom>
          <a:noFill/>
          <a:ln/>
        </p:spPr>
        <p:txBody>
          <a:bodyPr wrap="square" lIns="0" tIns="0" rIns="0" bIns="0" rtlCol="0" anchor="ctr"/>
          <a:lstStyle/>
          <a:p>
            <a:pPr indent="0" marL="0">
              <a:lnSpc>
                <a:spcPct val="120000"/>
              </a:lnSpc>
              <a:buNone/>
            </a:pPr>
            <a:r>
              <a:rPr lang="en-US" sz="1350" dirty="0">
                <a:solidFill>
                  <a:srgbClr val="33415C"/>
                </a:solidFill>
                <a:latin typeface="Calibri" pitchFamily="34" charset="0"/>
                <a:ea typeface="Calibri" pitchFamily="34" charset="-122"/>
                <a:cs typeface="Calibri" pitchFamily="34" charset="-120"/>
              </a:rPr>
              <a:t>19:00 es la hora más crítica, con 73.4% de tasa de retraso.</a:t>
            </a:r>
            <a:endParaRPr lang="en-US" sz="1350" dirty="0"/>
          </a:p>
        </p:txBody>
      </p:sp>
      <p:sp>
        <p:nvSpPr>
          <p:cNvPr id="11" name="Shape 6"/>
          <p:cNvSpPr/>
          <p:nvPr/>
        </p:nvSpPr>
        <p:spPr>
          <a:xfrm>
            <a:off x="7744968" y="4023360"/>
            <a:ext cx="420624" cy="420624"/>
          </a:xfrm>
          <a:prstGeom prst="ellipse">
            <a:avLst/>
          </a:prstGeom>
          <a:solidFill>
            <a:srgbClr val="CADCFC"/>
          </a:solidFill>
          <a:ln/>
        </p:spPr>
      </p:sp>
      <p:pic>
        <p:nvPicPr>
          <p:cNvPr id="12" name="Image 3" descr="/home/claude/build/pptx_deck/icons/bolt_navy.png">    </p:cNvPr>
          <p:cNvPicPr>
            <a:picLocks noChangeAspect="1"/>
          </p:cNvPicPr>
          <p:nvPr/>
        </p:nvPicPr>
        <p:blipFill>
          <a:blip r:embed="rId4"/>
          <a:stretch>
            <a:fillRect/>
          </a:stretch>
        </p:blipFill>
        <p:spPr>
          <a:xfrm>
            <a:off x="7839608" y="4118000"/>
            <a:ext cx="231343" cy="231343"/>
          </a:xfrm>
          <a:prstGeom prst="rect">
            <a:avLst/>
          </a:prstGeom>
        </p:spPr>
      </p:pic>
      <p:sp>
        <p:nvSpPr>
          <p:cNvPr id="13" name="Text 7"/>
          <p:cNvSpPr/>
          <p:nvPr/>
        </p:nvSpPr>
        <p:spPr>
          <a:xfrm>
            <a:off x="8412480" y="3941064"/>
            <a:ext cx="3246120" cy="914400"/>
          </a:xfrm>
          <a:prstGeom prst="rect">
            <a:avLst/>
          </a:prstGeom>
          <a:noFill/>
          <a:ln/>
        </p:spPr>
        <p:txBody>
          <a:bodyPr wrap="square" lIns="0" tIns="0" rIns="0" bIns="0" rtlCol="0" anchor="ctr"/>
          <a:lstStyle/>
          <a:p>
            <a:pPr indent="0" marL="0">
              <a:lnSpc>
                <a:spcPct val="120000"/>
              </a:lnSpc>
              <a:buNone/>
            </a:pPr>
            <a:r>
              <a:rPr lang="en-US" sz="1350" dirty="0">
                <a:solidFill>
                  <a:srgbClr val="33415C"/>
                </a:solidFill>
                <a:latin typeface="Calibri" pitchFamily="34" charset="0"/>
                <a:ea typeface="Calibri" pitchFamily="34" charset="-122"/>
                <a:cs typeface="Calibri" pitchFamily="34" charset="-120"/>
              </a:rPr>
              <a:t>Agosto (temporada alta) es el mes con mayor tasa de retraso: 53.7%.</a:t>
            </a:r>
            <a:endParaRPr lang="en-US" sz="1350" dirty="0"/>
          </a:p>
        </p:txBody>
      </p:sp>
      <p:sp>
        <p:nvSpPr>
          <p:cNvPr id="14" name="Shape 8"/>
          <p:cNvSpPr/>
          <p:nvPr/>
        </p:nvSpPr>
        <p:spPr>
          <a:xfrm>
            <a:off x="7744968" y="5102352"/>
            <a:ext cx="420624" cy="420624"/>
          </a:xfrm>
          <a:prstGeom prst="ellipse">
            <a:avLst/>
          </a:prstGeom>
          <a:solidFill>
            <a:srgbClr val="CADCFC"/>
          </a:solidFill>
          <a:ln/>
        </p:spPr>
      </p:sp>
      <p:pic>
        <p:nvPicPr>
          <p:cNvPr id="15" name="Image 4" descr="/home/claude/build/pptx_deck/icons/bolt_navy.png">    </p:cNvPr>
          <p:cNvPicPr>
            <a:picLocks noChangeAspect="1"/>
          </p:cNvPicPr>
          <p:nvPr/>
        </p:nvPicPr>
        <p:blipFill>
          <a:blip r:embed="rId5"/>
          <a:stretch>
            <a:fillRect/>
          </a:stretch>
        </p:blipFill>
        <p:spPr>
          <a:xfrm>
            <a:off x="7839608" y="5196992"/>
            <a:ext cx="231343" cy="231343"/>
          </a:xfrm>
          <a:prstGeom prst="rect">
            <a:avLst/>
          </a:prstGeom>
        </p:spPr>
      </p:pic>
      <p:sp>
        <p:nvSpPr>
          <p:cNvPr id="16" name="Text 9"/>
          <p:cNvSpPr/>
          <p:nvPr/>
        </p:nvSpPr>
        <p:spPr>
          <a:xfrm>
            <a:off x="8412480" y="5020056"/>
            <a:ext cx="3246120" cy="914400"/>
          </a:xfrm>
          <a:prstGeom prst="rect">
            <a:avLst/>
          </a:prstGeom>
          <a:noFill/>
          <a:ln/>
        </p:spPr>
        <p:txBody>
          <a:bodyPr wrap="square" lIns="0" tIns="0" rIns="0" bIns="0" rtlCol="0" anchor="ctr"/>
          <a:lstStyle/>
          <a:p>
            <a:pPr indent="0" marL="0">
              <a:lnSpc>
                <a:spcPct val="120000"/>
              </a:lnSpc>
              <a:buNone/>
            </a:pPr>
            <a:r>
              <a:rPr lang="en-US" sz="1350" dirty="0">
                <a:solidFill>
                  <a:srgbClr val="33415C"/>
                </a:solidFill>
                <a:latin typeface="Calibri" pitchFamily="34" charset="0"/>
                <a:ea typeface="Calibri" pitchFamily="34" charset="-122"/>
                <a:cs typeface="Calibri" pitchFamily="34" charset="-120"/>
              </a:rPr>
              <a:t>American Airlines Inc. tiene la mayor tasa de retraso entre aerolíneas (67.5%); Southwest, la menor.</a:t>
            </a:r>
            <a:endParaRPr lang="en-US" sz="1350" dirty="0"/>
          </a:p>
        </p:txBody>
      </p:sp>
      <p:sp>
        <p:nvSpPr>
          <p:cNvPr id="17" name="Text 10"/>
          <p:cNvSpPr/>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Predicción de Retrasos de Vuelos</a:t>
            </a:r>
            <a:endParaRPr lang="en-US" sz="1000" dirty="0"/>
          </a:p>
        </p:txBody>
      </p:sp>
      <p:sp>
        <p:nvSpPr>
          <p:cNvPr id="18" name="Text 11"/>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1000" dirty="0">
                <a:solidFill>
                  <a:srgbClr val="6B7A99"/>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Modelos de Clasificación: Resultados</a:t>
            </a:r>
            <a:endParaRPr lang="en-US" sz="3000" dirty="0"/>
          </a:p>
        </p:txBody>
      </p:sp>
      <p:sp>
        <p:nvSpPr>
          <p:cNvPr id="3" name="Text 1"/>
          <p:cNvSpPr/>
          <p:nvPr/>
        </p:nvSpPr>
        <p:spPr>
          <a:xfrm>
            <a:off x="640080" y="1078992"/>
            <a:ext cx="10515600" cy="365760"/>
          </a:xfrm>
          <a:prstGeom prst="rect">
            <a:avLst/>
          </a:prstGeom>
          <a:noFill/>
          <a:ln/>
        </p:spPr>
        <p:txBody>
          <a:bodyPr wrap="square" lIns="0" tIns="0" rIns="0" bIns="0" rtlCol="0" anchor="ctr"/>
          <a:lstStyle/>
          <a:p>
            <a:pPr indent="0" marL="0">
              <a:buNone/>
            </a:pPr>
            <a:r>
              <a:rPr lang="en-US" sz="1400" dirty="0">
                <a:solidFill>
                  <a:srgbClr val="6B7A99"/>
                </a:solidFill>
                <a:latin typeface="Calibri" pitchFamily="34" charset="0"/>
                <a:ea typeface="Calibri" pitchFamily="34" charset="-122"/>
                <a:cs typeface="Calibri" pitchFamily="34" charset="-120"/>
              </a:rPr>
              <a:t>¿Se retrasará el vuelo más de 15 minutos? — 3 modelos comparados sobre el mismo conjunto de prueba</a:t>
            </a:r>
            <a:endParaRPr lang="en-US" sz="1400" dirty="0"/>
          </a:p>
        </p:txBody>
      </p:sp>
      <p:sp>
        <p:nvSpPr>
          <p:cNvPr id="4" name="Shape 2"/>
          <p:cNvSpPr/>
          <p:nvPr/>
        </p:nvSpPr>
        <p:spPr>
          <a:xfrm>
            <a:off x="640080" y="1783080"/>
            <a:ext cx="3383280" cy="4160520"/>
          </a:xfrm>
          <a:prstGeom prst="roundRect">
            <a:avLst>
              <a:gd name="adj" fmla="val 3243"/>
            </a:avLst>
          </a:prstGeom>
          <a:solidFill>
            <a:srgbClr val="1E2761"/>
          </a:solidFill>
          <a:ln/>
          <a:effectLst>
            <a:outerShdw sx="100000" sy="100000" kx="0" ky="0" algn="bl" rotWithShape="0" blurRad="101600" dist="38100" dir="2700000">
              <a:srgbClr val="000000">
                <a:alpha val="15000"/>
              </a:srgbClr>
            </a:outerShdw>
          </a:effectLst>
        </p:spPr>
      </p:sp>
      <p:sp>
        <p:nvSpPr>
          <p:cNvPr id="5" name="Text 3"/>
          <p:cNvSpPr/>
          <p:nvPr/>
        </p:nvSpPr>
        <p:spPr>
          <a:xfrm>
            <a:off x="868680" y="2011680"/>
            <a:ext cx="2926080" cy="320040"/>
          </a:xfrm>
          <a:prstGeom prst="rect">
            <a:avLst/>
          </a:prstGeom>
          <a:noFill/>
          <a:ln/>
        </p:spPr>
        <p:txBody>
          <a:bodyPr wrap="square" lIns="0" tIns="0" rIns="0" bIns="0" rtlCol="0" anchor="ctr"/>
          <a:lstStyle/>
          <a:p>
            <a:pPr indent="0" marL="0">
              <a:buNone/>
            </a:pPr>
            <a:r>
              <a:rPr lang="en-US" sz="1200" b="1" spc="200" kern="0" dirty="0">
                <a:solidFill>
                  <a:srgbClr val="E8920B"/>
                </a:solidFill>
                <a:latin typeface="Calibri" pitchFamily="34" charset="0"/>
                <a:ea typeface="Calibri" pitchFamily="34" charset="-122"/>
                <a:cs typeface="Calibri" pitchFamily="34" charset="-120"/>
              </a:rPr>
              <a:t>MEJOR MODELO</a:t>
            </a:r>
            <a:endParaRPr lang="en-US" sz="1200" dirty="0"/>
          </a:p>
        </p:txBody>
      </p:sp>
      <p:sp>
        <p:nvSpPr>
          <p:cNvPr id="6" name="Text 4"/>
          <p:cNvSpPr/>
          <p:nvPr/>
        </p:nvSpPr>
        <p:spPr>
          <a:xfrm>
            <a:off x="868680" y="2331720"/>
            <a:ext cx="2926080" cy="1188720"/>
          </a:xfrm>
          <a:prstGeom prst="rect">
            <a:avLst/>
          </a:prstGeom>
          <a:noFill/>
          <a:ln/>
        </p:spPr>
        <p:txBody>
          <a:bodyPr wrap="square" lIns="0" tIns="0" rIns="0" bIns="0" rtlCol="0" anchor="ctr"/>
          <a:lstStyle/>
          <a:p>
            <a:pPr indent="0" marL="0">
              <a:lnSpc>
                <a:spcPct val="100000"/>
              </a:lnSpc>
              <a:buNone/>
            </a:pPr>
            <a:r>
              <a:rPr lang="en-US" sz="3200" b="1" dirty="0">
                <a:solidFill>
                  <a:srgbClr val="FFFFFF"/>
                </a:solidFill>
                <a:latin typeface="Cambria" pitchFamily="34" charset="0"/>
                <a:ea typeface="Cambria" pitchFamily="34" charset="-122"/>
                <a:cs typeface="Cambria" pitchFamily="34" charset="-120"/>
              </a:rPr>
              <a:t>Random</a:t>
            </a:r>
            <a:endParaRPr lang="en-US" sz="3200" dirty="0"/>
          </a:p>
          <a:p>
            <a:pPr indent="0" marL="0">
              <a:lnSpc>
                <a:spcPct val="100000"/>
              </a:lnSpc>
              <a:buNone/>
            </a:pPr>
            <a:r>
              <a:rPr lang="en-US" sz="3200" b="1" dirty="0">
                <a:solidFill>
                  <a:srgbClr val="FFFFFF"/>
                </a:solidFill>
                <a:latin typeface="Cambria" pitchFamily="34" charset="0"/>
                <a:ea typeface="Cambria" pitchFamily="34" charset="-122"/>
                <a:cs typeface="Cambria" pitchFamily="34" charset="-120"/>
              </a:rPr>
              <a:t>Forest</a:t>
            </a:r>
            <a:endParaRPr lang="en-US" sz="3200" dirty="0"/>
          </a:p>
        </p:txBody>
      </p:sp>
      <p:sp>
        <p:nvSpPr>
          <p:cNvPr id="7" name="Shape 5"/>
          <p:cNvSpPr/>
          <p:nvPr/>
        </p:nvSpPr>
        <p:spPr>
          <a:xfrm>
            <a:off x="868680" y="3657600"/>
            <a:ext cx="2926080" cy="0"/>
          </a:xfrm>
          <a:prstGeom prst="line">
            <a:avLst/>
          </a:prstGeom>
          <a:noFill/>
          <a:ln w="12700">
            <a:solidFill>
              <a:srgbClr val="3C4A8C"/>
            </a:solidFill>
            <a:prstDash val="solid"/>
          </a:ln>
        </p:spPr>
      </p:sp>
      <p:sp>
        <p:nvSpPr>
          <p:cNvPr id="8" name="Text 6"/>
          <p:cNvSpPr/>
          <p:nvPr/>
        </p:nvSpPr>
        <p:spPr>
          <a:xfrm>
            <a:off x="868680" y="3794760"/>
            <a:ext cx="292608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0.811</a:t>
            </a:r>
            <a:endParaRPr lang="en-US" sz="4000" dirty="0"/>
          </a:p>
        </p:txBody>
      </p:sp>
      <p:sp>
        <p:nvSpPr>
          <p:cNvPr id="9" name="Text 7"/>
          <p:cNvSpPr/>
          <p:nvPr/>
        </p:nvSpPr>
        <p:spPr>
          <a:xfrm>
            <a:off x="868680" y="4434840"/>
            <a:ext cx="2926080"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ROC-AUC</a:t>
            </a:r>
            <a:endParaRPr lang="en-US" sz="1300" dirty="0"/>
          </a:p>
        </p:txBody>
      </p:sp>
      <p:sp>
        <p:nvSpPr>
          <p:cNvPr id="10" name="Text 8"/>
          <p:cNvSpPr/>
          <p:nvPr/>
        </p:nvSpPr>
        <p:spPr>
          <a:xfrm>
            <a:off x="868680" y="4892040"/>
            <a:ext cx="1371600" cy="5029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73.9%</a:t>
            </a:r>
            <a:endParaRPr lang="en-US" sz="2200" dirty="0"/>
          </a:p>
        </p:txBody>
      </p:sp>
      <p:sp>
        <p:nvSpPr>
          <p:cNvPr id="11" name="Text 9"/>
          <p:cNvSpPr/>
          <p:nvPr/>
        </p:nvSpPr>
        <p:spPr>
          <a:xfrm>
            <a:off x="868680" y="5376672"/>
            <a:ext cx="137160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Accuracy</a:t>
            </a:r>
            <a:endParaRPr lang="en-US" sz="1100" dirty="0"/>
          </a:p>
        </p:txBody>
      </p:sp>
      <p:sp>
        <p:nvSpPr>
          <p:cNvPr id="12" name="Text 10"/>
          <p:cNvSpPr/>
          <p:nvPr/>
        </p:nvSpPr>
        <p:spPr>
          <a:xfrm>
            <a:off x="2331720" y="4892040"/>
            <a:ext cx="1371600" cy="5029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68.6%</a:t>
            </a:r>
            <a:endParaRPr lang="en-US" sz="2200" dirty="0"/>
          </a:p>
        </p:txBody>
      </p:sp>
      <p:sp>
        <p:nvSpPr>
          <p:cNvPr id="13" name="Text 11"/>
          <p:cNvSpPr/>
          <p:nvPr/>
        </p:nvSpPr>
        <p:spPr>
          <a:xfrm>
            <a:off x="2331720" y="5376672"/>
            <a:ext cx="137160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F1-score</a:t>
            </a:r>
            <a:endParaRPr lang="en-US" sz="1100" dirty="0"/>
          </a:p>
        </p:txBody>
      </p:sp>
      <p:graphicFrame>
        <p:nvGraphicFramePr>
          <p:cNvPr id="14" name="Chart 0" descr=""/>
          <p:cNvGraphicFramePr/>
          <p:nvPr/>
        </p:nvGraphicFramePr>
        <p:xfrm>
          <a:off x="4572000" y="1828800"/>
          <a:ext cx="6949440" cy="274320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p:nvPr/>
        </p:nvSpPr>
        <p:spPr>
          <a:xfrm>
            <a:off x="4572000" y="4754880"/>
            <a:ext cx="6949440" cy="1005840"/>
          </a:xfrm>
          <a:prstGeom prst="rect">
            <a:avLst/>
          </a:prstGeom>
          <a:noFill/>
          <a:ln/>
        </p:spPr>
        <p:txBody>
          <a:bodyPr wrap="square" lIns="0" tIns="0" rIns="0" bIns="0" rtlCol="0" anchor="ctr"/>
          <a:lstStyle/>
          <a:p>
            <a:pPr indent="0" marL="0">
              <a:lnSpc>
                <a:spcPct val="125000"/>
              </a:lnSpc>
              <a:buNone/>
            </a:pPr>
            <a:r>
              <a:rPr lang="en-US" sz="1300" b="1" dirty="0">
                <a:solidFill>
                  <a:srgbClr val="1E2761"/>
                </a:solidFill>
                <a:latin typeface="Calibri" pitchFamily="34" charset="0"/>
                <a:ea typeface="Calibri" pitchFamily="34" charset="-122"/>
                <a:cs typeface="Calibri" pitchFamily="34" charset="-120"/>
              </a:rPr>
              <a:t>Por qué importa ROC-AUC: </a:t>
            </a:r>
            <a:pPr indent="0" marL="0">
              <a:lnSpc>
                <a:spcPct val="125000"/>
              </a:lnSpc>
              <a:buNone/>
            </a:pPr>
            <a:r>
              <a:rPr lang="en-US" sz="1300" dirty="0">
                <a:solidFill>
                  <a:srgbClr val="33415C"/>
                </a:solidFill>
                <a:latin typeface="Calibri" pitchFamily="34" charset="0"/>
                <a:ea typeface="Calibri" pitchFamily="34" charset="-122"/>
                <a:cs typeface="Calibri" pitchFamily="34" charset="-120"/>
              </a:rPr>
              <a:t>con ~39% de vuelos retrasados, accuracy sola puede ser engañosa. ROC-AUC mide qué tan bien el modelo distingue vuelos retrasados de los que no, en todos los umbrales posibles.</a:t>
            </a:r>
            <a:endParaRPr lang="en-US" sz="1300" dirty="0"/>
          </a:p>
        </p:txBody>
      </p:sp>
      <p:sp>
        <p:nvSpPr>
          <p:cNvPr id="16" name="Text 13"/>
          <p:cNvSpPr/>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Predicción de Retrasos de Vuelos</a:t>
            </a:r>
            <a:endParaRPr lang="en-US" sz="1000" dirty="0"/>
          </a:p>
        </p:txBody>
      </p:sp>
      <p:sp>
        <p:nvSpPr>
          <p:cNvPr id="17" name="Text 14"/>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1000" dirty="0">
                <a:solidFill>
                  <a:srgbClr val="6B7A99"/>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Qué Importa, y el Bonus de Regresión</a:t>
            </a:r>
            <a:endParaRPr lang="en-US" sz="3000" dirty="0"/>
          </a:p>
        </p:txBody>
      </p:sp>
      <p:sp>
        <p:nvSpPr>
          <p:cNvPr id="3" name="Text 1"/>
          <p:cNvSpPr/>
          <p:nvPr/>
        </p:nvSpPr>
        <p:spPr>
          <a:xfrm>
            <a:off x="640080" y="1188720"/>
            <a:ext cx="566928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Variables más influyentes (permutation importance)</a:t>
            </a:r>
            <a:endParaRPr lang="en-US" sz="1400" dirty="0"/>
          </a:p>
        </p:txBody>
      </p:sp>
      <p:graphicFrame>
        <p:nvGraphicFramePr>
          <p:cNvPr id="4" name="Chart 0" descr=""/>
          <p:cNvGraphicFramePr/>
          <p:nvPr/>
        </p:nvGraphicFramePr>
        <p:xfrm>
          <a:off x="457200" y="1600200"/>
          <a:ext cx="603504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858000" y="1600200"/>
            <a:ext cx="4754880" cy="4480560"/>
          </a:xfrm>
          <a:prstGeom prst="roundRect">
            <a:avLst>
              <a:gd name="adj" fmla="val 2449"/>
            </a:avLst>
          </a:prstGeom>
          <a:solidFill>
            <a:srgbClr val="F5F7FC"/>
          </a:solidFill>
          <a:ln/>
          <a:effectLst>
            <a:outerShdw sx="100000" sy="100000" kx="0" ky="0" algn="bl" rotWithShape="0" blurRad="101600" dist="38100" dir="2700000">
              <a:srgbClr val="000000">
                <a:alpha val="10000"/>
              </a:srgbClr>
            </a:outerShdw>
          </a:effectLst>
        </p:spPr>
      </p:sp>
      <p:sp>
        <p:nvSpPr>
          <p:cNvPr id="6" name="Text 3"/>
          <p:cNvSpPr/>
          <p:nvPr/>
        </p:nvSpPr>
        <p:spPr>
          <a:xfrm>
            <a:off x="7132320" y="1828800"/>
            <a:ext cx="2743200" cy="320040"/>
          </a:xfrm>
          <a:prstGeom prst="rect">
            <a:avLst/>
          </a:prstGeom>
          <a:noFill/>
          <a:ln/>
        </p:spPr>
        <p:txBody>
          <a:bodyPr wrap="square" lIns="0" tIns="0" rIns="0" bIns="0" rtlCol="0" anchor="ctr"/>
          <a:lstStyle/>
          <a:p>
            <a:pPr indent="0" marL="0">
              <a:buNone/>
            </a:pPr>
            <a:r>
              <a:rPr lang="en-US" sz="1200" b="1" spc="200" kern="0" dirty="0">
                <a:solidFill>
                  <a:srgbClr val="E8920B"/>
                </a:solidFill>
                <a:latin typeface="Calibri" pitchFamily="34" charset="0"/>
                <a:ea typeface="Calibri" pitchFamily="34" charset="-122"/>
                <a:cs typeface="Calibri" pitchFamily="34" charset="-120"/>
              </a:rPr>
              <a:t>BONUS</a:t>
            </a:r>
            <a:endParaRPr lang="en-US" sz="1200" dirty="0"/>
          </a:p>
        </p:txBody>
      </p:sp>
      <p:sp>
        <p:nvSpPr>
          <p:cNvPr id="7" name="Text 4"/>
          <p:cNvSpPr/>
          <p:nvPr/>
        </p:nvSpPr>
        <p:spPr>
          <a:xfrm>
            <a:off x="7132320" y="2148840"/>
            <a:ext cx="4206240" cy="914400"/>
          </a:xfrm>
          <a:prstGeom prst="rect">
            <a:avLst/>
          </a:prstGeom>
          <a:noFill/>
          <a:ln/>
        </p:spPr>
        <p:txBody>
          <a:bodyPr wrap="square" lIns="0" tIns="0" rIns="0" bIns="0" rtlCol="0" anchor="ctr"/>
          <a:lstStyle/>
          <a:p>
            <a:pPr indent="0" marL="0">
              <a:lnSpc>
                <a:spcPct val="105000"/>
              </a:lnSpc>
              <a:buNone/>
            </a:pPr>
            <a:r>
              <a:rPr lang="en-US" sz="2100" b="1" dirty="0">
                <a:solidFill>
                  <a:srgbClr val="1E2761"/>
                </a:solidFill>
                <a:latin typeface="Cambria" pitchFamily="34" charset="0"/>
                <a:ea typeface="Cambria" pitchFamily="34" charset="-122"/>
                <a:cs typeface="Cambria" pitchFamily="34" charset="-120"/>
              </a:rPr>
              <a:t>Regresión: minutos</a:t>
            </a:r>
            <a:endParaRPr lang="en-US" sz="2100" dirty="0"/>
          </a:p>
          <a:p>
            <a:pPr indent="0" marL="0">
              <a:lnSpc>
                <a:spcPct val="105000"/>
              </a:lnSpc>
              <a:buNone/>
            </a:pPr>
            <a:r>
              <a:rPr lang="en-US" sz="2100" b="1" dirty="0">
                <a:solidFill>
                  <a:srgbClr val="1E2761"/>
                </a:solidFill>
                <a:latin typeface="Cambria" pitchFamily="34" charset="0"/>
                <a:ea typeface="Cambria" pitchFamily="34" charset="-122"/>
                <a:cs typeface="Cambria" pitchFamily="34" charset="-120"/>
              </a:rPr>
              <a:t>exactos de retraso</a:t>
            </a:r>
            <a:endParaRPr lang="en-US" sz="2100" dirty="0"/>
          </a:p>
        </p:txBody>
      </p:sp>
      <p:sp>
        <p:nvSpPr>
          <p:cNvPr id="8" name="Text 5"/>
          <p:cNvSpPr/>
          <p:nvPr/>
        </p:nvSpPr>
        <p:spPr>
          <a:xfrm>
            <a:off x="7132320" y="3063240"/>
            <a:ext cx="4206240" cy="640080"/>
          </a:xfrm>
          <a:prstGeom prst="rect">
            <a:avLst/>
          </a:prstGeom>
          <a:noFill/>
          <a:ln/>
        </p:spPr>
        <p:txBody>
          <a:bodyPr wrap="square" lIns="0" tIns="0" rIns="0" bIns="0" rtlCol="0" anchor="ctr"/>
          <a:lstStyle/>
          <a:p>
            <a:pPr indent="0" marL="0">
              <a:lnSpc>
                <a:spcPct val="120000"/>
              </a:lnSpc>
              <a:buNone/>
            </a:pPr>
            <a:r>
              <a:rPr lang="en-US" sz="1250" dirty="0">
                <a:solidFill>
                  <a:srgbClr val="33415C"/>
                </a:solidFill>
                <a:latin typeface="Calibri" pitchFamily="34" charset="0"/>
                <a:ea typeface="Calibri" pitchFamily="34" charset="-122"/>
                <a:cs typeface="Calibri" pitchFamily="34" charset="-120"/>
              </a:rPr>
              <a:t>Más allá de sí/no, XGBoost Regressor estima cuántos minutos exactos se retrasará un vuelo.</a:t>
            </a:r>
            <a:endParaRPr lang="en-US" sz="1250" dirty="0"/>
          </a:p>
        </p:txBody>
      </p:sp>
      <p:sp>
        <p:nvSpPr>
          <p:cNvPr id="9" name="Shape 6"/>
          <p:cNvSpPr/>
          <p:nvPr/>
        </p:nvSpPr>
        <p:spPr>
          <a:xfrm>
            <a:off x="7132320" y="3794760"/>
            <a:ext cx="4206240" cy="0"/>
          </a:xfrm>
          <a:prstGeom prst="line">
            <a:avLst/>
          </a:prstGeom>
          <a:noFill/>
          <a:ln w="12700">
            <a:solidFill>
              <a:srgbClr val="D7DEEC"/>
            </a:solidFill>
            <a:prstDash val="solid"/>
          </a:ln>
        </p:spPr>
      </p:sp>
      <p:sp>
        <p:nvSpPr>
          <p:cNvPr id="10" name="Text 7"/>
          <p:cNvSpPr/>
          <p:nvPr/>
        </p:nvSpPr>
        <p:spPr>
          <a:xfrm>
            <a:off x="7132320" y="3931920"/>
            <a:ext cx="201168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0.413</a:t>
            </a:r>
            <a:endParaRPr lang="en-US" sz="3000" dirty="0"/>
          </a:p>
        </p:txBody>
      </p:sp>
      <p:sp>
        <p:nvSpPr>
          <p:cNvPr id="11" name="Text 8"/>
          <p:cNvSpPr/>
          <p:nvPr/>
        </p:nvSpPr>
        <p:spPr>
          <a:xfrm>
            <a:off x="7132320" y="4526280"/>
            <a:ext cx="2011680" cy="274320"/>
          </a:xfrm>
          <a:prstGeom prst="rect">
            <a:avLst/>
          </a:prstGeom>
          <a:noFill/>
          <a:ln/>
        </p:spPr>
        <p:txBody>
          <a:bodyPr wrap="square" lIns="0" tIns="0" rIns="0" bIns="0" rtlCol="0" anchor="ctr"/>
          <a:lstStyle/>
          <a:p>
            <a:pPr indent="0" marL="0">
              <a:buNone/>
            </a:pPr>
            <a:r>
              <a:rPr lang="en-US" sz="1200" dirty="0">
                <a:solidFill>
                  <a:srgbClr val="6B7A99"/>
                </a:solidFill>
                <a:latin typeface="Calibri" pitchFamily="34" charset="0"/>
                <a:ea typeface="Calibri" pitchFamily="34" charset="-122"/>
                <a:cs typeface="Calibri" pitchFamily="34" charset="-120"/>
              </a:rPr>
              <a:t>R²</a:t>
            </a:r>
            <a:endParaRPr lang="en-US" sz="1200" dirty="0"/>
          </a:p>
        </p:txBody>
      </p:sp>
      <p:sp>
        <p:nvSpPr>
          <p:cNvPr id="12" name="Text 9"/>
          <p:cNvSpPr/>
          <p:nvPr/>
        </p:nvSpPr>
        <p:spPr>
          <a:xfrm>
            <a:off x="9235440" y="3931920"/>
            <a:ext cx="21031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9.76 min</a:t>
            </a:r>
            <a:endParaRPr lang="en-US" sz="3000" dirty="0"/>
          </a:p>
        </p:txBody>
      </p:sp>
      <p:sp>
        <p:nvSpPr>
          <p:cNvPr id="13" name="Text 10"/>
          <p:cNvSpPr/>
          <p:nvPr/>
        </p:nvSpPr>
        <p:spPr>
          <a:xfrm>
            <a:off x="9235440" y="4526280"/>
            <a:ext cx="2103120" cy="274320"/>
          </a:xfrm>
          <a:prstGeom prst="rect">
            <a:avLst/>
          </a:prstGeom>
          <a:noFill/>
          <a:ln/>
        </p:spPr>
        <p:txBody>
          <a:bodyPr wrap="square" lIns="0" tIns="0" rIns="0" bIns="0" rtlCol="0" anchor="ctr"/>
          <a:lstStyle/>
          <a:p>
            <a:pPr indent="0" marL="0">
              <a:buNone/>
            </a:pPr>
            <a:r>
              <a:rPr lang="en-US" sz="1200" dirty="0">
                <a:solidFill>
                  <a:srgbClr val="6B7A99"/>
                </a:solidFill>
                <a:latin typeface="Calibri" pitchFamily="34" charset="0"/>
                <a:ea typeface="Calibri" pitchFamily="34" charset="-122"/>
                <a:cs typeface="Calibri" pitchFamily="34" charset="-120"/>
              </a:rPr>
              <a:t>MAE</a:t>
            </a:r>
            <a:endParaRPr lang="en-US" sz="1200" dirty="0"/>
          </a:p>
        </p:txBody>
      </p:sp>
      <p:sp>
        <p:nvSpPr>
          <p:cNvPr id="14" name="Text 11"/>
          <p:cNvSpPr/>
          <p:nvPr/>
        </p:nvSpPr>
        <p:spPr>
          <a:xfrm>
            <a:off x="7132320" y="5074920"/>
            <a:ext cx="4206240" cy="822960"/>
          </a:xfrm>
          <a:prstGeom prst="rect">
            <a:avLst/>
          </a:prstGeom>
          <a:noFill/>
          <a:ln/>
        </p:spPr>
        <p:txBody>
          <a:bodyPr wrap="square" lIns="0" tIns="0" rIns="0" bIns="0" rtlCol="0" anchor="ctr"/>
          <a:lstStyle/>
          <a:p>
            <a:pPr indent="0" marL="0">
              <a:lnSpc>
                <a:spcPct val="120000"/>
              </a:lnSpc>
              <a:buNone/>
            </a:pPr>
            <a:r>
              <a:rPr lang="en-US" sz="1150" i="1" dirty="0">
                <a:solidFill>
                  <a:srgbClr val="6B7A99"/>
                </a:solidFill>
                <a:latin typeface="Calibri" pitchFamily="34" charset="0"/>
                <a:ea typeface="Calibri" pitchFamily="34" charset="-122"/>
                <a:cs typeface="Calibri" pitchFamily="34" charset="-120"/>
              </a:rPr>
              <a:t>El error moderado refleja lo ruidoso que es el retraso exacto (clima puntual, eventos operativos no capturados en los datos).</a:t>
            </a:r>
            <a:endParaRPr lang="en-US" sz="1150" dirty="0"/>
          </a:p>
        </p:txBody>
      </p:sp>
      <p:sp>
        <p:nvSpPr>
          <p:cNvPr id="15" name="Text 12"/>
          <p:cNvSpPr/>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Predicción de Retrasos de Vuelos</a:t>
            </a:r>
            <a:endParaRPr lang="en-US" sz="1000" dirty="0"/>
          </a:p>
        </p:txBody>
      </p:sp>
      <p:sp>
        <p:nvSpPr>
          <p:cNvPr id="16" name="Text 1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1000" dirty="0">
                <a:solidFill>
                  <a:srgbClr val="6B7A9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De Notebook a Producto: el Dashboard</a:t>
            </a:r>
            <a:endParaRPr lang="en-US" sz="3000" dirty="0"/>
          </a:p>
        </p:txBody>
      </p:sp>
      <p:sp>
        <p:nvSpPr>
          <p:cNvPr id="3" name="Text 1"/>
          <p:cNvSpPr/>
          <p:nvPr/>
        </p:nvSpPr>
        <p:spPr>
          <a:xfrm>
            <a:off x="640080" y="1078992"/>
            <a:ext cx="10515600" cy="365760"/>
          </a:xfrm>
          <a:prstGeom prst="rect">
            <a:avLst/>
          </a:prstGeom>
          <a:noFill/>
          <a:ln/>
        </p:spPr>
        <p:txBody>
          <a:bodyPr wrap="square" lIns="0" tIns="0" rIns="0" bIns="0" rtlCol="0" anchor="ctr"/>
          <a:lstStyle/>
          <a:p>
            <a:pPr indent="0" marL="0">
              <a:buNone/>
            </a:pPr>
            <a:r>
              <a:rPr lang="en-US" sz="1400" dirty="0">
                <a:solidFill>
                  <a:srgbClr val="6B7A99"/>
                </a:solidFill>
                <a:latin typeface="Calibri" pitchFamily="34" charset="0"/>
                <a:ea typeface="Calibri" pitchFamily="34" charset="-122"/>
                <a:cs typeface="Calibri" pitchFamily="34" charset="-120"/>
              </a:rPr>
              <a:t>Aplicación interactiva en Streamlit, desplegada en Hugging Face Spaces — 4 páginas</a:t>
            </a:r>
            <a:endParaRPr lang="en-US" sz="1400" dirty="0"/>
          </a:p>
        </p:txBody>
      </p:sp>
      <p:sp>
        <p:nvSpPr>
          <p:cNvPr id="4" name="Shape 2"/>
          <p:cNvSpPr/>
          <p:nvPr/>
        </p:nvSpPr>
        <p:spPr>
          <a:xfrm>
            <a:off x="640080" y="1783080"/>
            <a:ext cx="5257800" cy="1965960"/>
          </a:xfrm>
          <a:prstGeom prst="roundRect">
            <a:avLst>
              <a:gd name="adj" fmla="val 4651"/>
            </a:avLst>
          </a:prstGeom>
          <a:solidFill>
            <a:srgbClr val="F5F7FC"/>
          </a:solidFill>
          <a:ln/>
          <a:effectLst>
            <a:outerShdw sx="100000" sy="100000" kx="0" ky="0" algn="bl" rotWithShape="0" blurRad="76200" dist="25400" dir="5400000">
              <a:srgbClr val="000000">
                <a:alpha val="8000"/>
              </a:srgbClr>
            </a:outerShdw>
          </a:effectLst>
        </p:spPr>
      </p:sp>
      <p:sp>
        <p:nvSpPr>
          <p:cNvPr id="5" name="Shape 3"/>
          <p:cNvSpPr/>
          <p:nvPr/>
        </p:nvSpPr>
        <p:spPr>
          <a:xfrm>
            <a:off x="937260" y="2377440"/>
            <a:ext cx="777240" cy="777240"/>
          </a:xfrm>
          <a:prstGeom prst="ellipse">
            <a:avLst/>
          </a:prstGeom>
          <a:solidFill>
            <a:srgbClr val="CADCFC"/>
          </a:solidFill>
          <a:ln/>
        </p:spPr>
      </p:sp>
      <p:pic>
        <p:nvPicPr>
          <p:cNvPr id="6" name="Image 0" descr="/home/claude/build/pptx_deck/icons/home_navy.png">    </p:cNvPr>
          <p:cNvPicPr>
            <a:picLocks noChangeAspect="1"/>
          </p:cNvPicPr>
          <p:nvPr/>
        </p:nvPicPr>
        <p:blipFill>
          <a:blip r:embed="rId1"/>
          <a:stretch>
            <a:fillRect/>
          </a:stretch>
        </p:blipFill>
        <p:spPr>
          <a:xfrm>
            <a:off x="1112139" y="2552319"/>
            <a:ext cx="427482" cy="427482"/>
          </a:xfrm>
          <a:prstGeom prst="rect">
            <a:avLst/>
          </a:prstGeom>
        </p:spPr>
      </p:pic>
      <p:sp>
        <p:nvSpPr>
          <p:cNvPr id="7" name="Text 4"/>
          <p:cNvSpPr/>
          <p:nvPr/>
        </p:nvSpPr>
        <p:spPr>
          <a:xfrm>
            <a:off x="1920240" y="2075688"/>
            <a:ext cx="379476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Overview</a:t>
            </a:r>
            <a:endParaRPr lang="en-US" sz="1600" dirty="0"/>
          </a:p>
        </p:txBody>
      </p:sp>
      <p:sp>
        <p:nvSpPr>
          <p:cNvPr id="8" name="Text 5"/>
          <p:cNvSpPr/>
          <p:nvPr/>
        </p:nvSpPr>
        <p:spPr>
          <a:xfrm>
            <a:off x="1920240" y="2468880"/>
            <a:ext cx="3794760" cy="1097280"/>
          </a:xfrm>
          <a:prstGeom prst="rect">
            <a:avLst/>
          </a:prstGeom>
          <a:noFill/>
          <a:ln/>
        </p:spPr>
        <p:txBody>
          <a:bodyPr wrap="square" lIns="0" tIns="0" rIns="0" bIns="0" rtlCol="0" anchor="ctr"/>
          <a:lstStyle/>
          <a:p>
            <a:pPr indent="0" marL="0">
              <a:lnSpc>
                <a:spcPct val="125000"/>
              </a:lnSpc>
              <a:buNone/>
            </a:pPr>
            <a:r>
              <a:rPr lang="en-US" sz="1200" dirty="0">
                <a:solidFill>
                  <a:srgbClr val="33415C"/>
                </a:solidFill>
                <a:latin typeface="Calibri" pitchFamily="34" charset="0"/>
                <a:ea typeface="Calibri" pitchFamily="34" charset="-122"/>
                <a:cs typeface="Calibri" pitchFamily="34" charset="-120"/>
              </a:rPr>
              <a:t>Resumen del dataset y del proyecto: tasa de retraso global, aerolíneas y aeropuertos cubiertos.</a:t>
            </a:r>
            <a:endParaRPr lang="en-US" sz="1200" dirty="0"/>
          </a:p>
        </p:txBody>
      </p:sp>
      <p:sp>
        <p:nvSpPr>
          <p:cNvPr id="9" name="Shape 6"/>
          <p:cNvSpPr/>
          <p:nvPr/>
        </p:nvSpPr>
        <p:spPr>
          <a:xfrm>
            <a:off x="6172200" y="1783080"/>
            <a:ext cx="5257800" cy="1965960"/>
          </a:xfrm>
          <a:prstGeom prst="roundRect">
            <a:avLst>
              <a:gd name="adj" fmla="val 4651"/>
            </a:avLst>
          </a:prstGeom>
          <a:solidFill>
            <a:srgbClr val="F5F7FC"/>
          </a:solidFill>
          <a:ln/>
          <a:effectLst>
            <a:outerShdw sx="100000" sy="100000" kx="0" ky="0" algn="bl" rotWithShape="0" blurRad="76200" dist="25400" dir="5400000">
              <a:srgbClr val="000000">
                <a:alpha val="8000"/>
              </a:srgbClr>
            </a:outerShdw>
          </a:effectLst>
        </p:spPr>
      </p:sp>
      <p:sp>
        <p:nvSpPr>
          <p:cNvPr id="10" name="Shape 7"/>
          <p:cNvSpPr/>
          <p:nvPr/>
        </p:nvSpPr>
        <p:spPr>
          <a:xfrm>
            <a:off x="6469380" y="2377440"/>
            <a:ext cx="777240" cy="777240"/>
          </a:xfrm>
          <a:prstGeom prst="ellipse">
            <a:avLst/>
          </a:prstGeom>
          <a:solidFill>
            <a:srgbClr val="CADCFC"/>
          </a:solidFill>
          <a:ln/>
        </p:spPr>
      </p:sp>
      <p:pic>
        <p:nvPicPr>
          <p:cNvPr id="11" name="Image 1" descr="/home/claude/build/pptx_deck/icons/chartpie_navy.png">    </p:cNvPr>
          <p:cNvPicPr>
            <a:picLocks noChangeAspect="1"/>
          </p:cNvPicPr>
          <p:nvPr/>
        </p:nvPicPr>
        <p:blipFill>
          <a:blip r:embed="rId2"/>
          <a:stretch>
            <a:fillRect/>
          </a:stretch>
        </p:blipFill>
        <p:spPr>
          <a:xfrm>
            <a:off x="6644259" y="2552319"/>
            <a:ext cx="427482" cy="427482"/>
          </a:xfrm>
          <a:prstGeom prst="rect">
            <a:avLst/>
          </a:prstGeom>
        </p:spPr>
      </p:pic>
      <p:sp>
        <p:nvSpPr>
          <p:cNvPr id="12" name="Text 8"/>
          <p:cNvSpPr/>
          <p:nvPr/>
        </p:nvSpPr>
        <p:spPr>
          <a:xfrm>
            <a:off x="7452360" y="2075688"/>
            <a:ext cx="379476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EDA</a:t>
            </a:r>
            <a:endParaRPr lang="en-US" sz="1600" dirty="0"/>
          </a:p>
        </p:txBody>
      </p:sp>
      <p:sp>
        <p:nvSpPr>
          <p:cNvPr id="13" name="Text 9"/>
          <p:cNvSpPr/>
          <p:nvPr/>
        </p:nvSpPr>
        <p:spPr>
          <a:xfrm>
            <a:off x="7452360" y="2468880"/>
            <a:ext cx="3794760" cy="1097280"/>
          </a:xfrm>
          <a:prstGeom prst="rect">
            <a:avLst/>
          </a:prstGeom>
          <a:noFill/>
          <a:ln/>
        </p:spPr>
        <p:txBody>
          <a:bodyPr wrap="square" lIns="0" tIns="0" rIns="0" bIns="0" rtlCol="0" anchor="ctr"/>
          <a:lstStyle/>
          <a:p>
            <a:pPr indent="0" marL="0">
              <a:lnSpc>
                <a:spcPct val="125000"/>
              </a:lnSpc>
              <a:buNone/>
            </a:pPr>
            <a:r>
              <a:rPr lang="en-US" sz="1200" dirty="0">
                <a:solidFill>
                  <a:srgbClr val="33415C"/>
                </a:solidFill>
                <a:latin typeface="Calibri" pitchFamily="34" charset="0"/>
                <a:ea typeface="Calibri" pitchFamily="34" charset="-122"/>
                <a:cs typeface="Calibri" pitchFamily="34" charset="-120"/>
              </a:rPr>
              <a:t>Gráficas interactivas con filtros por aerolínea y mes — explora los mismos patrones del notebook en vivo.</a:t>
            </a:r>
            <a:endParaRPr lang="en-US" sz="1200" dirty="0"/>
          </a:p>
        </p:txBody>
      </p:sp>
      <p:sp>
        <p:nvSpPr>
          <p:cNvPr id="14" name="Shape 10"/>
          <p:cNvSpPr/>
          <p:nvPr/>
        </p:nvSpPr>
        <p:spPr>
          <a:xfrm>
            <a:off x="640080" y="4023360"/>
            <a:ext cx="5257800" cy="1965960"/>
          </a:xfrm>
          <a:prstGeom prst="roundRect">
            <a:avLst>
              <a:gd name="adj" fmla="val 4651"/>
            </a:avLst>
          </a:prstGeom>
          <a:solidFill>
            <a:srgbClr val="F5F7FC"/>
          </a:solidFill>
          <a:ln/>
          <a:effectLst>
            <a:outerShdw sx="100000" sy="100000" kx="0" ky="0" algn="bl" rotWithShape="0" blurRad="76200" dist="25400" dir="5400000">
              <a:srgbClr val="000000">
                <a:alpha val="8000"/>
              </a:srgbClr>
            </a:outerShdw>
          </a:effectLst>
        </p:spPr>
      </p:sp>
      <p:sp>
        <p:nvSpPr>
          <p:cNvPr id="15" name="Shape 11"/>
          <p:cNvSpPr/>
          <p:nvPr/>
        </p:nvSpPr>
        <p:spPr>
          <a:xfrm>
            <a:off x="937260" y="4617720"/>
            <a:ext cx="777240" cy="777240"/>
          </a:xfrm>
          <a:prstGeom prst="ellipse">
            <a:avLst/>
          </a:prstGeom>
          <a:solidFill>
            <a:srgbClr val="CADCFC"/>
          </a:solidFill>
          <a:ln/>
        </p:spPr>
      </p:sp>
      <p:pic>
        <p:nvPicPr>
          <p:cNvPr id="16" name="Image 2" descr="/home/claude/build/pptx_deck/icons/bolt_navy.png">    </p:cNvPr>
          <p:cNvPicPr>
            <a:picLocks noChangeAspect="1"/>
          </p:cNvPicPr>
          <p:nvPr/>
        </p:nvPicPr>
        <p:blipFill>
          <a:blip r:embed="rId3"/>
          <a:stretch>
            <a:fillRect/>
          </a:stretch>
        </p:blipFill>
        <p:spPr>
          <a:xfrm>
            <a:off x="1112139" y="4792599"/>
            <a:ext cx="427482" cy="427482"/>
          </a:xfrm>
          <a:prstGeom prst="rect">
            <a:avLst/>
          </a:prstGeom>
        </p:spPr>
      </p:pic>
      <p:sp>
        <p:nvSpPr>
          <p:cNvPr id="17" name="Text 12"/>
          <p:cNvSpPr/>
          <p:nvPr/>
        </p:nvSpPr>
        <p:spPr>
          <a:xfrm>
            <a:off x="1920240" y="4315968"/>
            <a:ext cx="379476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Predictor</a:t>
            </a:r>
            <a:endParaRPr lang="en-US" sz="1600" dirty="0"/>
          </a:p>
        </p:txBody>
      </p:sp>
      <p:sp>
        <p:nvSpPr>
          <p:cNvPr id="18" name="Text 13"/>
          <p:cNvSpPr/>
          <p:nvPr/>
        </p:nvSpPr>
        <p:spPr>
          <a:xfrm>
            <a:off x="1920240" y="4709160"/>
            <a:ext cx="3794760" cy="1097280"/>
          </a:xfrm>
          <a:prstGeom prst="rect">
            <a:avLst/>
          </a:prstGeom>
          <a:noFill/>
          <a:ln/>
        </p:spPr>
        <p:txBody>
          <a:bodyPr wrap="square" lIns="0" tIns="0" rIns="0" bIns="0" rtlCol="0" anchor="ctr"/>
          <a:lstStyle/>
          <a:p>
            <a:pPr indent="0" marL="0">
              <a:lnSpc>
                <a:spcPct val="125000"/>
              </a:lnSpc>
              <a:buNone/>
            </a:pPr>
            <a:r>
              <a:rPr lang="en-US" sz="1200" dirty="0">
                <a:solidFill>
                  <a:srgbClr val="33415C"/>
                </a:solidFill>
                <a:latin typeface="Calibri" pitchFamily="34" charset="0"/>
                <a:ea typeface="Calibri" pitchFamily="34" charset="-122"/>
                <a:cs typeface="Calibri" pitchFamily="34" charset="-120"/>
              </a:rPr>
              <a:t>Ingresa aerolínea, ruta, fecha y hora de un vuelo, y obtén la predicción de retraso en tiempo real.</a:t>
            </a:r>
            <a:endParaRPr lang="en-US" sz="1200" dirty="0"/>
          </a:p>
        </p:txBody>
      </p:sp>
      <p:sp>
        <p:nvSpPr>
          <p:cNvPr id="19" name="Shape 14"/>
          <p:cNvSpPr/>
          <p:nvPr/>
        </p:nvSpPr>
        <p:spPr>
          <a:xfrm>
            <a:off x="6172200" y="4023360"/>
            <a:ext cx="5257800" cy="1965960"/>
          </a:xfrm>
          <a:prstGeom prst="roundRect">
            <a:avLst>
              <a:gd name="adj" fmla="val 4651"/>
            </a:avLst>
          </a:prstGeom>
          <a:solidFill>
            <a:srgbClr val="F5F7FC"/>
          </a:solidFill>
          <a:ln/>
          <a:effectLst>
            <a:outerShdw sx="100000" sy="100000" kx="0" ky="0" algn="bl" rotWithShape="0" blurRad="76200" dist="25400" dir="5400000">
              <a:srgbClr val="000000">
                <a:alpha val="8000"/>
              </a:srgbClr>
            </a:outerShdw>
          </a:effectLst>
        </p:spPr>
      </p:sp>
      <p:sp>
        <p:nvSpPr>
          <p:cNvPr id="20" name="Shape 15"/>
          <p:cNvSpPr/>
          <p:nvPr/>
        </p:nvSpPr>
        <p:spPr>
          <a:xfrm>
            <a:off x="6469380" y="4617720"/>
            <a:ext cx="777240" cy="777240"/>
          </a:xfrm>
          <a:prstGeom prst="ellipse">
            <a:avLst/>
          </a:prstGeom>
          <a:solidFill>
            <a:srgbClr val="CADCFC"/>
          </a:solidFill>
          <a:ln/>
        </p:spPr>
      </p:sp>
      <p:pic>
        <p:nvPicPr>
          <p:cNvPr id="21" name="Image 3" descr="/home/claude/build/pptx_deck/icons/chartline_navy.png">    </p:cNvPr>
          <p:cNvPicPr>
            <a:picLocks noChangeAspect="1"/>
          </p:cNvPicPr>
          <p:nvPr/>
        </p:nvPicPr>
        <p:blipFill>
          <a:blip r:embed="rId4"/>
          <a:stretch>
            <a:fillRect/>
          </a:stretch>
        </p:blipFill>
        <p:spPr>
          <a:xfrm>
            <a:off x="6644259" y="4792599"/>
            <a:ext cx="427482" cy="427482"/>
          </a:xfrm>
          <a:prstGeom prst="rect">
            <a:avLst/>
          </a:prstGeom>
        </p:spPr>
      </p:pic>
      <p:sp>
        <p:nvSpPr>
          <p:cNvPr id="22" name="Text 16"/>
          <p:cNvSpPr/>
          <p:nvPr/>
        </p:nvSpPr>
        <p:spPr>
          <a:xfrm>
            <a:off x="7452360" y="4315968"/>
            <a:ext cx="379476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Model Performance</a:t>
            </a:r>
            <a:endParaRPr lang="en-US" sz="1600" dirty="0"/>
          </a:p>
        </p:txBody>
      </p:sp>
      <p:sp>
        <p:nvSpPr>
          <p:cNvPr id="23" name="Text 17"/>
          <p:cNvSpPr/>
          <p:nvPr/>
        </p:nvSpPr>
        <p:spPr>
          <a:xfrm>
            <a:off x="7452360" y="4709160"/>
            <a:ext cx="3794760" cy="1097280"/>
          </a:xfrm>
          <a:prstGeom prst="rect">
            <a:avLst/>
          </a:prstGeom>
          <a:noFill/>
          <a:ln/>
        </p:spPr>
        <p:txBody>
          <a:bodyPr wrap="square" lIns="0" tIns="0" rIns="0" bIns="0" rtlCol="0" anchor="ctr"/>
          <a:lstStyle/>
          <a:p>
            <a:pPr indent="0" marL="0">
              <a:lnSpc>
                <a:spcPct val="125000"/>
              </a:lnSpc>
              <a:buNone/>
            </a:pPr>
            <a:r>
              <a:rPr lang="en-US" sz="1200" dirty="0">
                <a:solidFill>
                  <a:srgbClr val="33415C"/>
                </a:solidFill>
                <a:latin typeface="Calibri" pitchFamily="34" charset="0"/>
                <a:ea typeface="Calibri" pitchFamily="34" charset="-122"/>
                <a:cs typeface="Calibri" pitchFamily="34" charset="-120"/>
              </a:rPr>
              <a:t>Tablas comparativas de los 3 modelos e importancia de variables.</a:t>
            </a:r>
            <a:endParaRPr lang="en-US" sz="1200" dirty="0"/>
          </a:p>
        </p:txBody>
      </p:sp>
      <p:sp>
        <p:nvSpPr>
          <p:cNvPr id="24" name="Text 18"/>
          <p:cNvSpPr/>
          <p:nvPr/>
        </p:nvSpPr>
        <p:spPr>
          <a:xfrm>
            <a:off x="640080" y="6172200"/>
            <a:ext cx="822960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huggingface.co/spaces/osky9/Predicting-Flight-Delays</a:t>
            </a:r>
            <a:endParaRPr lang="en-US" sz="1400" dirty="0"/>
          </a:p>
        </p:txBody>
      </p:sp>
      <p:sp>
        <p:nvSpPr>
          <p:cNvPr id="25" name="Text 19"/>
          <p:cNvSpPr/>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Predicción de Retrasos de Vuelos</a:t>
            </a:r>
            <a:endParaRPr lang="en-US" sz="1000" dirty="0"/>
          </a:p>
        </p:txBody>
      </p:sp>
      <p:sp>
        <p:nvSpPr>
          <p:cNvPr id="26" name="Text 2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1000" dirty="0">
                <a:solidFill>
                  <a:srgbClr val="6B7A99"/>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457200"/>
            <a:ext cx="100584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Recomendaciones y Próximos Pasos</a:t>
            </a:r>
            <a:endParaRPr lang="en-US" sz="3000" dirty="0"/>
          </a:p>
        </p:txBody>
      </p:sp>
      <p:sp>
        <p:nvSpPr>
          <p:cNvPr id="3" name="Shape 1"/>
          <p:cNvSpPr/>
          <p:nvPr/>
        </p:nvSpPr>
        <p:spPr>
          <a:xfrm>
            <a:off x="640080" y="1417320"/>
            <a:ext cx="3383280" cy="2286000"/>
          </a:xfrm>
          <a:prstGeom prst="roundRect">
            <a:avLst>
              <a:gd name="adj" fmla="val 4000"/>
            </a:avLst>
          </a:prstGeom>
          <a:solidFill>
            <a:srgbClr val="2A3577"/>
          </a:solidFill>
          <a:ln/>
        </p:spPr>
      </p:sp>
      <p:sp>
        <p:nvSpPr>
          <p:cNvPr id="4" name="Shape 2"/>
          <p:cNvSpPr/>
          <p:nvPr/>
        </p:nvSpPr>
        <p:spPr>
          <a:xfrm>
            <a:off x="1965960" y="1691640"/>
            <a:ext cx="731520" cy="731520"/>
          </a:xfrm>
          <a:prstGeom prst="ellipse">
            <a:avLst/>
          </a:prstGeom>
          <a:solidFill>
            <a:srgbClr val="3C4A8C"/>
          </a:solidFill>
          <a:ln/>
        </p:spPr>
      </p:sp>
      <p:pic>
        <p:nvPicPr>
          <p:cNvPr id="5" name="Image 0" descr="/home/claude/build/pptx_deck/icons/plane_amber.png">    </p:cNvPr>
          <p:cNvPicPr>
            <a:picLocks noChangeAspect="1"/>
          </p:cNvPicPr>
          <p:nvPr/>
        </p:nvPicPr>
        <p:blipFill>
          <a:blip r:embed="rId1"/>
          <a:stretch>
            <a:fillRect/>
          </a:stretch>
        </p:blipFill>
        <p:spPr>
          <a:xfrm>
            <a:off x="2148840" y="1874520"/>
            <a:ext cx="365760" cy="365760"/>
          </a:xfrm>
          <a:prstGeom prst="rect">
            <a:avLst/>
          </a:prstGeom>
        </p:spPr>
      </p:pic>
      <p:sp>
        <p:nvSpPr>
          <p:cNvPr id="6" name="Text 3"/>
          <p:cNvSpPr/>
          <p:nvPr/>
        </p:nvSpPr>
        <p:spPr>
          <a:xfrm>
            <a:off x="822960" y="2560320"/>
            <a:ext cx="301752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Aerolíneas</a:t>
            </a:r>
            <a:endParaRPr lang="en-US" sz="1600" dirty="0"/>
          </a:p>
        </p:txBody>
      </p:sp>
      <p:sp>
        <p:nvSpPr>
          <p:cNvPr id="7" name="Text 4"/>
          <p:cNvSpPr/>
          <p:nvPr/>
        </p:nvSpPr>
        <p:spPr>
          <a:xfrm>
            <a:off x="914400" y="2926080"/>
            <a:ext cx="2834640" cy="731520"/>
          </a:xfrm>
          <a:prstGeom prst="rect">
            <a:avLst/>
          </a:prstGeom>
          <a:noFill/>
          <a:ln/>
        </p:spPr>
        <p:txBody>
          <a:bodyPr wrap="square" lIns="0" tIns="0" rIns="0" bIns="0" rtlCol="0" anchor="ctr"/>
          <a:lstStyle/>
          <a:p>
            <a:pPr algn="ctr" indent="0" marL="0">
              <a:lnSpc>
                <a:spcPct val="120000"/>
              </a:lnSpc>
              <a:buNone/>
            </a:pPr>
            <a:r>
              <a:rPr lang="en-US" sz="1200" dirty="0">
                <a:solidFill>
                  <a:srgbClr val="CADCFC"/>
                </a:solidFill>
                <a:latin typeface="Calibri" pitchFamily="34" charset="0"/>
                <a:ea typeface="Calibri" pitchFamily="34" charset="-122"/>
                <a:cs typeface="Calibri" pitchFamily="34" charset="-120"/>
              </a:rPr>
              <a:t>Ampliar holguras en vuelos de tarde/noche y revisar turnaround en meses pico.</a:t>
            </a:r>
            <a:endParaRPr lang="en-US" sz="1200" dirty="0"/>
          </a:p>
        </p:txBody>
      </p:sp>
      <p:sp>
        <p:nvSpPr>
          <p:cNvPr id="8" name="Shape 5"/>
          <p:cNvSpPr/>
          <p:nvPr/>
        </p:nvSpPr>
        <p:spPr>
          <a:xfrm>
            <a:off x="4251960" y="1417320"/>
            <a:ext cx="3383280" cy="2286000"/>
          </a:xfrm>
          <a:prstGeom prst="roundRect">
            <a:avLst>
              <a:gd name="adj" fmla="val 4000"/>
            </a:avLst>
          </a:prstGeom>
          <a:solidFill>
            <a:srgbClr val="2A3577"/>
          </a:solidFill>
          <a:ln/>
        </p:spPr>
      </p:sp>
      <p:sp>
        <p:nvSpPr>
          <p:cNvPr id="9" name="Shape 6"/>
          <p:cNvSpPr/>
          <p:nvPr/>
        </p:nvSpPr>
        <p:spPr>
          <a:xfrm>
            <a:off x="5577840" y="1691640"/>
            <a:ext cx="731520" cy="731520"/>
          </a:xfrm>
          <a:prstGeom prst="ellipse">
            <a:avLst/>
          </a:prstGeom>
          <a:solidFill>
            <a:srgbClr val="3C4A8C"/>
          </a:solidFill>
          <a:ln/>
        </p:spPr>
      </p:sp>
      <p:pic>
        <p:nvPicPr>
          <p:cNvPr id="10" name="Image 1" descr="/home/claude/build/pptx_deck/icons/building_white.png">    </p:cNvPr>
          <p:cNvPicPr>
            <a:picLocks noChangeAspect="1"/>
          </p:cNvPicPr>
          <p:nvPr/>
        </p:nvPicPr>
        <p:blipFill>
          <a:blip r:embed="rId2"/>
          <a:stretch>
            <a:fillRect/>
          </a:stretch>
        </p:blipFill>
        <p:spPr>
          <a:xfrm>
            <a:off x="5760720" y="1874520"/>
            <a:ext cx="365760" cy="365760"/>
          </a:xfrm>
          <a:prstGeom prst="rect">
            <a:avLst/>
          </a:prstGeom>
        </p:spPr>
      </p:pic>
      <p:sp>
        <p:nvSpPr>
          <p:cNvPr id="11" name="Text 7"/>
          <p:cNvSpPr/>
          <p:nvPr/>
        </p:nvSpPr>
        <p:spPr>
          <a:xfrm>
            <a:off x="4434840" y="2560320"/>
            <a:ext cx="301752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Aeropuertos</a:t>
            </a:r>
            <a:endParaRPr lang="en-US" sz="1600" dirty="0"/>
          </a:p>
        </p:txBody>
      </p:sp>
      <p:sp>
        <p:nvSpPr>
          <p:cNvPr id="12" name="Text 8"/>
          <p:cNvSpPr/>
          <p:nvPr/>
        </p:nvSpPr>
        <p:spPr>
          <a:xfrm>
            <a:off x="4526280" y="2926080"/>
            <a:ext cx="2834640" cy="731520"/>
          </a:xfrm>
          <a:prstGeom prst="rect">
            <a:avLst/>
          </a:prstGeom>
          <a:noFill/>
          <a:ln/>
        </p:spPr>
        <p:txBody>
          <a:bodyPr wrap="square" lIns="0" tIns="0" rIns="0" bIns="0" rtlCol="0" anchor="ctr"/>
          <a:lstStyle/>
          <a:p>
            <a:pPr algn="ctr" indent="0" marL="0">
              <a:lnSpc>
                <a:spcPct val="120000"/>
              </a:lnSpc>
              <a:buNone/>
            </a:pPr>
            <a:r>
              <a:rPr lang="en-US" sz="1200" dirty="0">
                <a:solidFill>
                  <a:srgbClr val="CADCFC"/>
                </a:solidFill>
                <a:latin typeface="Calibri" pitchFamily="34" charset="0"/>
                <a:ea typeface="Calibri" pitchFamily="34" charset="-122"/>
                <a:cs typeface="Calibri" pitchFamily="34" charset="-120"/>
              </a:rPr>
              <a:t>Reforzar personal en horas y meses de mayor tasa de retraso.</a:t>
            </a:r>
            <a:endParaRPr lang="en-US" sz="1200" dirty="0"/>
          </a:p>
        </p:txBody>
      </p:sp>
      <p:sp>
        <p:nvSpPr>
          <p:cNvPr id="13" name="Shape 9"/>
          <p:cNvSpPr/>
          <p:nvPr/>
        </p:nvSpPr>
        <p:spPr>
          <a:xfrm>
            <a:off x="7863840" y="1417320"/>
            <a:ext cx="3383280" cy="2286000"/>
          </a:xfrm>
          <a:prstGeom prst="roundRect">
            <a:avLst>
              <a:gd name="adj" fmla="val 4000"/>
            </a:avLst>
          </a:prstGeom>
          <a:solidFill>
            <a:srgbClr val="2A3577"/>
          </a:solidFill>
          <a:ln/>
        </p:spPr>
      </p:sp>
      <p:sp>
        <p:nvSpPr>
          <p:cNvPr id="14" name="Shape 10"/>
          <p:cNvSpPr/>
          <p:nvPr/>
        </p:nvSpPr>
        <p:spPr>
          <a:xfrm>
            <a:off x="9189720" y="1691640"/>
            <a:ext cx="731520" cy="731520"/>
          </a:xfrm>
          <a:prstGeom prst="ellipse">
            <a:avLst/>
          </a:prstGeom>
          <a:solidFill>
            <a:srgbClr val="3C4A8C"/>
          </a:solidFill>
          <a:ln/>
        </p:spPr>
      </p:sp>
      <p:pic>
        <p:nvPicPr>
          <p:cNvPr id="15" name="Image 2" descr="/home/claude/build/pptx_deck/icons/users_white.png">    </p:cNvPr>
          <p:cNvPicPr>
            <a:picLocks noChangeAspect="1"/>
          </p:cNvPicPr>
          <p:nvPr/>
        </p:nvPicPr>
        <p:blipFill>
          <a:blip r:embed="rId3"/>
          <a:stretch>
            <a:fillRect/>
          </a:stretch>
        </p:blipFill>
        <p:spPr>
          <a:xfrm>
            <a:off x="9372600" y="1874520"/>
            <a:ext cx="365760" cy="365760"/>
          </a:xfrm>
          <a:prstGeom prst="rect">
            <a:avLst/>
          </a:prstGeom>
        </p:spPr>
      </p:pic>
      <p:sp>
        <p:nvSpPr>
          <p:cNvPr id="16" name="Text 11"/>
          <p:cNvSpPr/>
          <p:nvPr/>
        </p:nvSpPr>
        <p:spPr>
          <a:xfrm>
            <a:off x="8046720" y="2560320"/>
            <a:ext cx="301752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Viajeros</a:t>
            </a:r>
            <a:endParaRPr lang="en-US" sz="1600" dirty="0"/>
          </a:p>
        </p:txBody>
      </p:sp>
      <p:sp>
        <p:nvSpPr>
          <p:cNvPr id="17" name="Text 12"/>
          <p:cNvSpPr/>
          <p:nvPr/>
        </p:nvSpPr>
        <p:spPr>
          <a:xfrm>
            <a:off x="8138160" y="2926080"/>
            <a:ext cx="2834640" cy="731520"/>
          </a:xfrm>
          <a:prstGeom prst="rect">
            <a:avLst/>
          </a:prstGeom>
          <a:noFill/>
          <a:ln/>
        </p:spPr>
        <p:txBody>
          <a:bodyPr wrap="square" lIns="0" tIns="0" rIns="0" bIns="0" rtlCol="0" anchor="ctr"/>
          <a:lstStyle/>
          <a:p>
            <a:pPr algn="ctr" indent="0" marL="0">
              <a:lnSpc>
                <a:spcPct val="120000"/>
              </a:lnSpc>
              <a:buNone/>
            </a:pPr>
            <a:r>
              <a:rPr lang="en-US" sz="1200" dirty="0">
                <a:solidFill>
                  <a:srgbClr val="CADCFC"/>
                </a:solidFill>
                <a:latin typeface="Calibri" pitchFamily="34" charset="0"/>
                <a:ea typeface="Calibri" pitchFamily="34" charset="-122"/>
                <a:cs typeface="Calibri" pitchFamily="34" charset="-120"/>
              </a:rPr>
              <a:t>Preferir vuelos matutinos y directos al reservar.</a:t>
            </a:r>
            <a:endParaRPr lang="en-US" sz="1200" dirty="0"/>
          </a:p>
        </p:txBody>
      </p:sp>
      <p:sp>
        <p:nvSpPr>
          <p:cNvPr id="18" name="Shape 13"/>
          <p:cNvSpPr/>
          <p:nvPr/>
        </p:nvSpPr>
        <p:spPr>
          <a:xfrm>
            <a:off x="640080" y="4023360"/>
            <a:ext cx="10881360" cy="0"/>
          </a:xfrm>
          <a:prstGeom prst="line">
            <a:avLst/>
          </a:prstGeom>
          <a:noFill/>
          <a:ln w="12700">
            <a:solidFill>
              <a:srgbClr val="3C4A8C"/>
            </a:solidFill>
            <a:prstDash val="solid"/>
          </a:ln>
        </p:spPr>
      </p:sp>
      <p:sp>
        <p:nvSpPr>
          <p:cNvPr id="19" name="Text 14"/>
          <p:cNvSpPr/>
          <p:nvPr/>
        </p:nvSpPr>
        <p:spPr>
          <a:xfrm>
            <a:off x="640080" y="4206240"/>
            <a:ext cx="5120640" cy="365760"/>
          </a:xfrm>
          <a:prstGeom prst="rect">
            <a:avLst/>
          </a:prstGeom>
          <a:noFill/>
          <a:ln/>
        </p:spPr>
        <p:txBody>
          <a:bodyPr wrap="square" lIns="0" tIns="0" rIns="0" bIns="0" rtlCol="0" anchor="ctr"/>
          <a:lstStyle/>
          <a:p>
            <a:pPr indent="0" marL="0">
              <a:buNone/>
            </a:pPr>
            <a:r>
              <a:rPr lang="en-US" sz="1500" b="1" dirty="0">
                <a:solidFill>
                  <a:srgbClr val="E8920B"/>
                </a:solidFill>
                <a:latin typeface="Calibri" pitchFamily="34" charset="0"/>
                <a:ea typeface="Calibri" pitchFamily="34" charset="-122"/>
                <a:cs typeface="Calibri" pitchFamily="34" charset="-120"/>
              </a:rPr>
              <a:t>Próximos pasos</a:t>
            </a:r>
            <a:endParaRPr lang="en-US" sz="1500" dirty="0"/>
          </a:p>
        </p:txBody>
      </p:sp>
      <p:sp>
        <p:nvSpPr>
          <p:cNvPr id="20" name="Text 15"/>
          <p:cNvSpPr/>
          <p:nvPr/>
        </p:nvSpPr>
        <p:spPr>
          <a:xfrm>
            <a:off x="640080" y="4572000"/>
            <a:ext cx="5120640" cy="1554480"/>
          </a:xfrm>
          <a:prstGeom prst="rect">
            <a:avLst/>
          </a:prstGeom>
          <a:noFill/>
          <a:ln/>
        </p:spPr>
        <p:txBody>
          <a:bodyPr wrap="square" lIns="0" tIns="0" rIns="0" bIns="0" rtlCol="0" anchor="ctr"/>
          <a:lstStyle/>
          <a:p>
            <a:pPr marL="342900" indent="-342900">
              <a:lnSpc>
                <a:spcPct val="125000"/>
              </a:lnSpc>
              <a:spcAft>
                <a:spcPts val="1000"/>
              </a:spcAft>
              <a:buSzPct val="100000"/>
              <a:buChar char="●"/>
            </a:pPr>
            <a:r>
              <a:rPr lang="en-US" sz="1250" dirty="0">
                <a:solidFill>
                  <a:srgbClr val="D7DEEC"/>
                </a:solidFill>
                <a:latin typeface="Calibri" pitchFamily="34" charset="0"/>
                <a:ea typeface="Calibri" pitchFamily="34" charset="-122"/>
                <a:cs typeface="Calibri" pitchFamily="34" charset="-120"/>
              </a:rPr>
              <a:t>Validar las cifras corriendo el pipeline sobre el dataset real completo (~5.8M vuelos) — esta corrida usó datos sintéticos por restricciones de tiempo.</a:t>
            </a:r>
            <a:endParaRPr lang="en-US" sz="1250" dirty="0"/>
          </a:p>
          <a:p>
            <a:pPr marL="342900" indent="-342900">
              <a:lnSpc>
                <a:spcPct val="125000"/>
              </a:lnSpc>
              <a:buSzPct val="100000"/>
              <a:buChar char="●"/>
            </a:pPr>
            <a:r>
              <a:rPr lang="en-US" sz="1250" dirty="0">
                <a:solidFill>
                  <a:srgbClr val="D7DEEC"/>
                </a:solidFill>
                <a:latin typeface="Calibri" pitchFamily="34" charset="0"/>
                <a:ea typeface="Calibri" pitchFamily="34" charset="-122"/>
                <a:cs typeface="Calibri" pitchFamily="34" charset="-120"/>
              </a:rPr>
              <a:t>Incorporar datos de clima y explorar SHAP para interpretación más granular.</a:t>
            </a:r>
            <a:endParaRPr lang="en-US" sz="1250" dirty="0"/>
          </a:p>
        </p:txBody>
      </p:sp>
      <p:sp>
        <p:nvSpPr>
          <p:cNvPr id="21" name="Text 16"/>
          <p:cNvSpPr/>
          <p:nvPr/>
        </p:nvSpPr>
        <p:spPr>
          <a:xfrm>
            <a:off x="6263640" y="4206240"/>
            <a:ext cx="5120640" cy="365760"/>
          </a:xfrm>
          <a:prstGeom prst="rect">
            <a:avLst/>
          </a:prstGeom>
          <a:noFill/>
          <a:ln/>
        </p:spPr>
        <p:txBody>
          <a:bodyPr wrap="square" lIns="0" tIns="0" rIns="0" bIns="0" rtlCol="0" anchor="ctr"/>
          <a:lstStyle/>
          <a:p>
            <a:pPr indent="0" marL="0">
              <a:buNone/>
            </a:pPr>
            <a:r>
              <a:rPr lang="en-US" sz="1500" b="1" dirty="0">
                <a:solidFill>
                  <a:srgbClr val="E8920B"/>
                </a:solidFill>
                <a:latin typeface="Calibri" pitchFamily="34" charset="0"/>
                <a:ea typeface="Calibri" pitchFamily="34" charset="-122"/>
                <a:cs typeface="Calibri" pitchFamily="34" charset="-120"/>
              </a:rPr>
              <a:t>Recursos</a:t>
            </a:r>
            <a:endParaRPr lang="en-US" sz="1500" dirty="0"/>
          </a:p>
        </p:txBody>
      </p:sp>
      <p:sp>
        <p:nvSpPr>
          <p:cNvPr id="22" name="Text 17"/>
          <p:cNvSpPr/>
          <p:nvPr/>
        </p:nvSpPr>
        <p:spPr>
          <a:xfrm>
            <a:off x="6263640" y="4572000"/>
            <a:ext cx="5120640" cy="1097280"/>
          </a:xfrm>
          <a:prstGeom prst="rect">
            <a:avLst/>
          </a:prstGeom>
          <a:noFill/>
          <a:ln/>
        </p:spPr>
        <p:txBody>
          <a:bodyPr wrap="square" lIns="0" tIns="0" rIns="0" bIns="0" rtlCol="0" anchor="ctr"/>
          <a:lstStyle/>
          <a:p>
            <a:pPr marL="342900" indent="-342900">
              <a:lnSpc>
                <a:spcPct val="130000"/>
              </a:lnSpc>
              <a:spcAft>
                <a:spcPts val="1000"/>
              </a:spcAft>
              <a:buSzPct val="100000"/>
              <a:buChar char="●"/>
            </a:pPr>
            <a:r>
              <a:rPr lang="en-US" sz="1250" dirty="0">
                <a:solidFill>
                  <a:srgbClr val="D7DEEC"/>
                </a:solidFill>
                <a:latin typeface="Calibri" pitchFamily="34" charset="0"/>
                <a:ea typeface="Calibri" pitchFamily="34" charset="-122"/>
                <a:cs typeface="Calibri" pitchFamily="34" charset="-120"/>
              </a:rPr>
              <a:t>Dashboard: huggingface.co/spaces/osky9/Predicting-Flight-Delays</a:t>
            </a:r>
            <a:endParaRPr lang="en-US" sz="1250" dirty="0"/>
          </a:p>
          <a:p>
            <a:pPr marL="342900" indent="-342900">
              <a:lnSpc>
                <a:spcPct val="130000"/>
              </a:lnSpc>
              <a:buSzPct val="100000"/>
              <a:buChar char="●"/>
            </a:pPr>
            <a:r>
              <a:rPr lang="en-US" sz="1250" dirty="0">
                <a:solidFill>
                  <a:srgbClr val="D7DEEC"/>
                </a:solidFill>
                <a:latin typeface="Calibri" pitchFamily="34" charset="0"/>
                <a:ea typeface="Calibri" pitchFamily="34" charset="-122"/>
                <a:cs typeface="Calibri" pitchFamily="34" charset="-120"/>
              </a:rPr>
              <a:t>Dataset: kaggle.com/datasets/usdot/flight-delays</a:t>
            </a:r>
            <a:endParaRPr lang="en-US" sz="1250" dirty="0"/>
          </a:p>
        </p:txBody>
      </p:sp>
      <p:sp>
        <p:nvSpPr>
          <p:cNvPr id="23" name="Text 18"/>
          <p:cNvSpPr/>
          <p:nvPr/>
        </p:nvSpPr>
        <p:spPr>
          <a:xfrm>
            <a:off x="640080" y="6126480"/>
            <a:ext cx="548640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Gracias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Predicción de Retrasos de Vuelos</dc:title>
  <dc:subject>PptxGenJS Presentation</dc:subject>
  <dc:creator>Proyecto Flight Delays</dc:creator>
  <cp:lastModifiedBy>Proyecto Flight Delays</cp:lastModifiedBy>
  <cp:revision>1</cp:revision>
  <dcterms:created xsi:type="dcterms:W3CDTF">2026-06-18T03:14:30Z</dcterms:created>
  <dcterms:modified xsi:type="dcterms:W3CDTF">2026-06-18T03:14:30Z</dcterms:modified>
</cp:coreProperties>
</file>